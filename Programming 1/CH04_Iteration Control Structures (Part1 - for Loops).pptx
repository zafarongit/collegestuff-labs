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946" r:id="rId4"/>
  </p:sldMasterIdLst>
  <p:notesMasterIdLst>
    <p:notesMasterId r:id="rId38"/>
  </p:notesMasterIdLst>
  <p:sldIdLst>
    <p:sldId id="387" r:id="rId5"/>
    <p:sldId id="380" r:id="rId6"/>
    <p:sldId id="1338" r:id="rId7"/>
    <p:sldId id="261" r:id="rId8"/>
    <p:sldId id="1375" r:id="rId9"/>
    <p:sldId id="1394" r:id="rId10"/>
    <p:sldId id="1395" r:id="rId11"/>
    <p:sldId id="1366" r:id="rId12"/>
    <p:sldId id="1396" r:id="rId13"/>
    <p:sldId id="1397" r:id="rId14"/>
    <p:sldId id="1392" r:id="rId15"/>
    <p:sldId id="1371" r:id="rId16"/>
    <p:sldId id="1383" r:id="rId17"/>
    <p:sldId id="1400" r:id="rId18"/>
    <p:sldId id="1401" r:id="rId19"/>
    <p:sldId id="1374" r:id="rId20"/>
    <p:sldId id="1406" r:id="rId21"/>
    <p:sldId id="1369" r:id="rId22"/>
    <p:sldId id="1385" r:id="rId23"/>
    <p:sldId id="1398" r:id="rId24"/>
    <p:sldId id="1407" r:id="rId25"/>
    <p:sldId id="1402" r:id="rId26"/>
    <p:sldId id="1405" r:id="rId27"/>
    <p:sldId id="1384" r:id="rId28"/>
    <p:sldId id="1389" r:id="rId29"/>
    <p:sldId id="1408" r:id="rId30"/>
    <p:sldId id="1388" r:id="rId31"/>
    <p:sldId id="1409" r:id="rId32"/>
    <p:sldId id="1399" r:id="rId33"/>
    <p:sldId id="1353" r:id="rId34"/>
    <p:sldId id="384" r:id="rId35"/>
    <p:sldId id="1312" r:id="rId36"/>
    <p:sldId id="382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EB0"/>
    <a:srgbClr val="00218A"/>
    <a:srgbClr val="0125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55" autoAdjust="0"/>
    <p:restoredTop sz="80228" autoAdjust="0"/>
  </p:normalViewPr>
  <p:slideViewPr>
    <p:cSldViewPr snapToGrid="0">
      <p:cViewPr varScale="1">
        <p:scale>
          <a:sx n="76" d="100"/>
          <a:sy n="76" d="100"/>
        </p:scale>
        <p:origin x="1005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8E7FEA-7D22-4EF8-BF58-87DC4CC6218B}" type="doc">
      <dgm:prSet loTypeId="urn:microsoft.com/office/officeart/2005/8/layout/list1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2B1BBE1-7A23-4830-92A4-9108D4FCAD02}">
      <dgm:prSet/>
      <dgm:spPr/>
      <dgm:t>
        <a:bodyPr/>
        <a:lstStyle/>
        <a:p>
          <a:r>
            <a:rPr lang="en-US" dirty="0"/>
            <a:t>Overview of Iteration Control Structures in Python</a:t>
          </a:r>
        </a:p>
      </dgm:t>
    </dgm:pt>
    <dgm:pt modelId="{7D109587-F89A-400A-9277-1561B683116C}" type="parTrans" cxnId="{ABB074E9-9DE9-4807-80C8-D434F72C97A7}">
      <dgm:prSet/>
      <dgm:spPr/>
      <dgm:t>
        <a:bodyPr/>
        <a:lstStyle/>
        <a:p>
          <a:endParaRPr lang="en-US"/>
        </a:p>
      </dgm:t>
    </dgm:pt>
    <dgm:pt modelId="{2AF762F2-1512-460D-8F22-F3BF5F1FA15A}" type="sibTrans" cxnId="{ABB074E9-9DE9-4807-80C8-D434F72C97A7}">
      <dgm:prSet/>
      <dgm:spPr/>
      <dgm:t>
        <a:bodyPr/>
        <a:lstStyle/>
        <a:p>
          <a:endParaRPr lang="en-US"/>
        </a:p>
      </dgm:t>
    </dgm:pt>
    <dgm:pt modelId="{96D97CEE-631E-44B4-A014-0373A53B81A8}">
      <dgm:prSet/>
      <dgm:spPr/>
      <dgm:t>
        <a:bodyPr/>
        <a:lstStyle/>
        <a:p>
          <a:r>
            <a:rPr lang="en-US" dirty="0"/>
            <a:t>Types of Iterations in Python</a:t>
          </a:r>
        </a:p>
      </dgm:t>
    </dgm:pt>
    <dgm:pt modelId="{FE106929-7E0F-4602-A9E6-950E0AF614F8}" type="parTrans" cxnId="{32992203-683A-4C54-A0CE-2FF533560AE9}">
      <dgm:prSet/>
      <dgm:spPr/>
      <dgm:t>
        <a:bodyPr/>
        <a:lstStyle/>
        <a:p>
          <a:endParaRPr lang="en-US"/>
        </a:p>
      </dgm:t>
    </dgm:pt>
    <dgm:pt modelId="{70A8AE03-C690-4E4B-A4F8-F5C18341C218}" type="sibTrans" cxnId="{32992203-683A-4C54-A0CE-2FF533560AE9}">
      <dgm:prSet/>
      <dgm:spPr/>
      <dgm:t>
        <a:bodyPr/>
        <a:lstStyle/>
        <a:p>
          <a:endParaRPr lang="en-US"/>
        </a:p>
      </dgm:t>
    </dgm:pt>
    <dgm:pt modelId="{07589132-DD86-4A17-8165-9975107A381B}">
      <dgm:prSet/>
      <dgm:spPr/>
      <dgm:t>
        <a:bodyPr/>
        <a:lstStyle/>
        <a:p>
          <a:r>
            <a:rPr lang="en-US" dirty="0"/>
            <a:t>Using for Loops with range()</a:t>
          </a:r>
        </a:p>
      </dgm:t>
    </dgm:pt>
    <dgm:pt modelId="{AF6A641A-57AD-4288-A5A6-32C269640BFC}" type="parTrans" cxnId="{7F4C7338-71B3-46F0-8A22-8E87B3AF064F}">
      <dgm:prSet/>
      <dgm:spPr/>
      <dgm:t>
        <a:bodyPr/>
        <a:lstStyle/>
        <a:p>
          <a:endParaRPr lang="en-US"/>
        </a:p>
      </dgm:t>
    </dgm:pt>
    <dgm:pt modelId="{C3AE61CB-E5D8-4240-8FC3-CE91900AB726}" type="sibTrans" cxnId="{7F4C7338-71B3-46F0-8A22-8E87B3AF064F}">
      <dgm:prSet/>
      <dgm:spPr/>
      <dgm:t>
        <a:bodyPr/>
        <a:lstStyle/>
        <a:p>
          <a:endParaRPr lang="en-US"/>
        </a:p>
      </dgm:t>
    </dgm:pt>
    <dgm:pt modelId="{31EFEB95-B54B-422B-BE32-78FA1FF764DD}">
      <dgm:prSet/>
      <dgm:spPr/>
      <dgm:t>
        <a:bodyPr/>
        <a:lstStyle/>
        <a:p>
          <a:r>
            <a:rPr lang="en-US" dirty="0"/>
            <a:t>For Loops in Problem Solving</a:t>
          </a:r>
        </a:p>
      </dgm:t>
    </dgm:pt>
    <dgm:pt modelId="{316911B0-548A-4600-B835-E2A1EEAA928D}" type="parTrans" cxnId="{0B227DAA-2C0B-4A0F-BF4A-9890F3963ED7}">
      <dgm:prSet/>
      <dgm:spPr/>
      <dgm:t>
        <a:bodyPr/>
        <a:lstStyle/>
        <a:p>
          <a:endParaRPr lang="en-US"/>
        </a:p>
      </dgm:t>
    </dgm:pt>
    <dgm:pt modelId="{8F0835D1-F610-499C-84E1-9ACC1892CF30}" type="sibTrans" cxnId="{0B227DAA-2C0B-4A0F-BF4A-9890F3963ED7}">
      <dgm:prSet/>
      <dgm:spPr/>
      <dgm:t>
        <a:bodyPr/>
        <a:lstStyle/>
        <a:p>
          <a:endParaRPr lang="en-US"/>
        </a:p>
      </dgm:t>
    </dgm:pt>
    <dgm:pt modelId="{8AF7DF3E-03C2-5E47-95A4-40E0272F40AA}" type="pres">
      <dgm:prSet presAssocID="{E58E7FEA-7D22-4EF8-BF58-87DC4CC6218B}" presName="linear" presStyleCnt="0">
        <dgm:presLayoutVars>
          <dgm:dir/>
          <dgm:animLvl val="lvl"/>
          <dgm:resizeHandles val="exact"/>
        </dgm:presLayoutVars>
      </dgm:prSet>
      <dgm:spPr/>
    </dgm:pt>
    <dgm:pt modelId="{0B6DD831-94F5-4F41-877B-4BCEB710F6A6}" type="pres">
      <dgm:prSet presAssocID="{F2B1BBE1-7A23-4830-92A4-9108D4FCAD02}" presName="parentLin" presStyleCnt="0"/>
      <dgm:spPr/>
    </dgm:pt>
    <dgm:pt modelId="{6585EF06-8EE1-4B17-91A0-1D9547D0B9D3}" type="pres">
      <dgm:prSet presAssocID="{F2B1BBE1-7A23-4830-92A4-9108D4FCAD02}" presName="parentLeftMargin" presStyleLbl="node1" presStyleIdx="0" presStyleCnt="4"/>
      <dgm:spPr/>
    </dgm:pt>
    <dgm:pt modelId="{50AC0759-869F-4311-B418-06096E78BB75}" type="pres">
      <dgm:prSet presAssocID="{F2B1BBE1-7A23-4830-92A4-9108D4FCAD0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D515F62-53F2-40A3-8BE3-FE0A119D005C}" type="pres">
      <dgm:prSet presAssocID="{F2B1BBE1-7A23-4830-92A4-9108D4FCAD02}" presName="negativeSpace" presStyleCnt="0"/>
      <dgm:spPr/>
    </dgm:pt>
    <dgm:pt modelId="{F793D1E6-B671-4519-833B-9903A6EFC715}" type="pres">
      <dgm:prSet presAssocID="{F2B1BBE1-7A23-4830-92A4-9108D4FCAD02}" presName="childText" presStyleLbl="conFgAcc1" presStyleIdx="0" presStyleCnt="4">
        <dgm:presLayoutVars>
          <dgm:bulletEnabled val="1"/>
        </dgm:presLayoutVars>
      </dgm:prSet>
      <dgm:spPr/>
    </dgm:pt>
    <dgm:pt modelId="{A67146CF-0BBD-40CE-8D81-A9A6620261B9}" type="pres">
      <dgm:prSet presAssocID="{2AF762F2-1512-460D-8F22-F3BF5F1FA15A}" presName="spaceBetweenRectangles" presStyleCnt="0"/>
      <dgm:spPr/>
    </dgm:pt>
    <dgm:pt modelId="{36589942-C38F-4674-943F-E82A87673880}" type="pres">
      <dgm:prSet presAssocID="{96D97CEE-631E-44B4-A014-0373A53B81A8}" presName="parentLin" presStyleCnt="0"/>
      <dgm:spPr/>
    </dgm:pt>
    <dgm:pt modelId="{8A08CF27-9639-4FF0-8F7B-FF7B1124FDF1}" type="pres">
      <dgm:prSet presAssocID="{96D97CEE-631E-44B4-A014-0373A53B81A8}" presName="parentLeftMargin" presStyleLbl="node1" presStyleIdx="0" presStyleCnt="4"/>
      <dgm:spPr/>
    </dgm:pt>
    <dgm:pt modelId="{3067A231-E1AD-4011-AC2C-3716E50F0765}" type="pres">
      <dgm:prSet presAssocID="{96D97CEE-631E-44B4-A014-0373A53B81A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F507881-A67B-4B07-9944-AB17B6E175AA}" type="pres">
      <dgm:prSet presAssocID="{96D97CEE-631E-44B4-A014-0373A53B81A8}" presName="negativeSpace" presStyleCnt="0"/>
      <dgm:spPr/>
    </dgm:pt>
    <dgm:pt modelId="{79B287E0-DDBD-4959-AF0B-0B0FA67B4088}" type="pres">
      <dgm:prSet presAssocID="{96D97CEE-631E-44B4-A014-0373A53B81A8}" presName="childText" presStyleLbl="conFgAcc1" presStyleIdx="1" presStyleCnt="4">
        <dgm:presLayoutVars>
          <dgm:bulletEnabled val="1"/>
        </dgm:presLayoutVars>
      </dgm:prSet>
      <dgm:spPr/>
    </dgm:pt>
    <dgm:pt modelId="{C32B4785-EE19-4EA1-9D0C-A422577858B3}" type="pres">
      <dgm:prSet presAssocID="{70A8AE03-C690-4E4B-A4F8-F5C18341C218}" presName="spaceBetweenRectangles" presStyleCnt="0"/>
      <dgm:spPr/>
    </dgm:pt>
    <dgm:pt modelId="{527235E1-5CEB-4AE1-AA60-850D01ADF08F}" type="pres">
      <dgm:prSet presAssocID="{07589132-DD86-4A17-8165-9975107A381B}" presName="parentLin" presStyleCnt="0"/>
      <dgm:spPr/>
    </dgm:pt>
    <dgm:pt modelId="{6174EF12-62CB-4B81-87B6-233ABE6B7DF5}" type="pres">
      <dgm:prSet presAssocID="{07589132-DD86-4A17-8165-9975107A381B}" presName="parentLeftMargin" presStyleLbl="node1" presStyleIdx="1" presStyleCnt="4"/>
      <dgm:spPr/>
    </dgm:pt>
    <dgm:pt modelId="{87B005D3-DB47-48A5-AF89-EDC4041F0C29}" type="pres">
      <dgm:prSet presAssocID="{07589132-DD86-4A17-8165-9975107A381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CCF54CF-2624-4385-A05D-8880B99D021A}" type="pres">
      <dgm:prSet presAssocID="{07589132-DD86-4A17-8165-9975107A381B}" presName="negativeSpace" presStyleCnt="0"/>
      <dgm:spPr/>
    </dgm:pt>
    <dgm:pt modelId="{08BD021E-F057-43EB-A046-3087BA25443D}" type="pres">
      <dgm:prSet presAssocID="{07589132-DD86-4A17-8165-9975107A381B}" presName="childText" presStyleLbl="conFgAcc1" presStyleIdx="2" presStyleCnt="4">
        <dgm:presLayoutVars>
          <dgm:bulletEnabled val="1"/>
        </dgm:presLayoutVars>
      </dgm:prSet>
      <dgm:spPr/>
    </dgm:pt>
    <dgm:pt modelId="{D9979A82-FC01-49DF-9CAB-E955BF696736}" type="pres">
      <dgm:prSet presAssocID="{C3AE61CB-E5D8-4240-8FC3-CE91900AB726}" presName="spaceBetweenRectangles" presStyleCnt="0"/>
      <dgm:spPr/>
    </dgm:pt>
    <dgm:pt modelId="{73000A3E-0C99-4E6B-A273-0A7442C04148}" type="pres">
      <dgm:prSet presAssocID="{31EFEB95-B54B-422B-BE32-78FA1FF764DD}" presName="parentLin" presStyleCnt="0"/>
      <dgm:spPr/>
    </dgm:pt>
    <dgm:pt modelId="{03DF3093-9628-44E2-8172-C4171A1347AC}" type="pres">
      <dgm:prSet presAssocID="{31EFEB95-B54B-422B-BE32-78FA1FF764DD}" presName="parentLeftMargin" presStyleLbl="node1" presStyleIdx="2" presStyleCnt="4"/>
      <dgm:spPr/>
    </dgm:pt>
    <dgm:pt modelId="{7D3D7054-2141-4D96-851E-DCA15BF5F3C6}" type="pres">
      <dgm:prSet presAssocID="{31EFEB95-B54B-422B-BE32-78FA1FF764DD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98BBA0BC-4F6D-4156-A2E9-77F99BCB8B1E}" type="pres">
      <dgm:prSet presAssocID="{31EFEB95-B54B-422B-BE32-78FA1FF764DD}" presName="negativeSpace" presStyleCnt="0"/>
      <dgm:spPr/>
    </dgm:pt>
    <dgm:pt modelId="{258ECE04-2134-47B4-9AB6-881E42191141}" type="pres">
      <dgm:prSet presAssocID="{31EFEB95-B54B-422B-BE32-78FA1FF764DD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32992203-683A-4C54-A0CE-2FF533560AE9}" srcId="{E58E7FEA-7D22-4EF8-BF58-87DC4CC6218B}" destId="{96D97CEE-631E-44B4-A014-0373A53B81A8}" srcOrd="1" destOrd="0" parTransId="{FE106929-7E0F-4602-A9E6-950E0AF614F8}" sibTransId="{70A8AE03-C690-4E4B-A4F8-F5C18341C218}"/>
    <dgm:cxn modelId="{F65E2A1E-0314-41E1-984C-B730A48C45D5}" type="presOf" srcId="{F2B1BBE1-7A23-4830-92A4-9108D4FCAD02}" destId="{6585EF06-8EE1-4B17-91A0-1D9547D0B9D3}" srcOrd="0" destOrd="0" presId="urn:microsoft.com/office/officeart/2005/8/layout/list1"/>
    <dgm:cxn modelId="{20D5FB21-150D-48DB-9091-E977E2779118}" type="presOf" srcId="{31EFEB95-B54B-422B-BE32-78FA1FF764DD}" destId="{03DF3093-9628-44E2-8172-C4171A1347AC}" srcOrd="0" destOrd="0" presId="urn:microsoft.com/office/officeart/2005/8/layout/list1"/>
    <dgm:cxn modelId="{4FCEA630-AC00-4947-BCA2-EC0FD03B8324}" type="presOf" srcId="{96D97CEE-631E-44B4-A014-0373A53B81A8}" destId="{3067A231-E1AD-4011-AC2C-3716E50F0765}" srcOrd="1" destOrd="0" presId="urn:microsoft.com/office/officeart/2005/8/layout/list1"/>
    <dgm:cxn modelId="{A969D937-84B3-45AA-8F67-06E24E6209B3}" type="presOf" srcId="{07589132-DD86-4A17-8165-9975107A381B}" destId="{87B005D3-DB47-48A5-AF89-EDC4041F0C29}" srcOrd="1" destOrd="0" presId="urn:microsoft.com/office/officeart/2005/8/layout/list1"/>
    <dgm:cxn modelId="{7F4C7338-71B3-46F0-8A22-8E87B3AF064F}" srcId="{E58E7FEA-7D22-4EF8-BF58-87DC4CC6218B}" destId="{07589132-DD86-4A17-8165-9975107A381B}" srcOrd="2" destOrd="0" parTransId="{AF6A641A-57AD-4288-A5A6-32C269640BFC}" sibTransId="{C3AE61CB-E5D8-4240-8FC3-CE91900AB726}"/>
    <dgm:cxn modelId="{FE98124B-9E3C-8B47-AA82-685A4BF78EEB}" type="presOf" srcId="{E58E7FEA-7D22-4EF8-BF58-87DC4CC6218B}" destId="{8AF7DF3E-03C2-5E47-95A4-40E0272F40AA}" srcOrd="0" destOrd="0" presId="urn:microsoft.com/office/officeart/2005/8/layout/list1"/>
    <dgm:cxn modelId="{533171A5-E618-450B-A2A8-B552934618E2}" type="presOf" srcId="{F2B1BBE1-7A23-4830-92A4-9108D4FCAD02}" destId="{50AC0759-869F-4311-B418-06096E78BB75}" srcOrd="1" destOrd="0" presId="urn:microsoft.com/office/officeart/2005/8/layout/list1"/>
    <dgm:cxn modelId="{0B227DAA-2C0B-4A0F-BF4A-9890F3963ED7}" srcId="{E58E7FEA-7D22-4EF8-BF58-87DC4CC6218B}" destId="{31EFEB95-B54B-422B-BE32-78FA1FF764DD}" srcOrd="3" destOrd="0" parTransId="{316911B0-548A-4600-B835-E2A1EEAA928D}" sibTransId="{8F0835D1-F610-499C-84E1-9ACC1892CF30}"/>
    <dgm:cxn modelId="{FAC150C3-10BA-425C-BCEA-248ACA42A78E}" type="presOf" srcId="{96D97CEE-631E-44B4-A014-0373A53B81A8}" destId="{8A08CF27-9639-4FF0-8F7B-FF7B1124FDF1}" srcOrd="0" destOrd="0" presId="urn:microsoft.com/office/officeart/2005/8/layout/list1"/>
    <dgm:cxn modelId="{2AF2ECC3-B999-47BE-8730-EC3E1D4596C6}" type="presOf" srcId="{07589132-DD86-4A17-8165-9975107A381B}" destId="{6174EF12-62CB-4B81-87B6-233ABE6B7DF5}" srcOrd="0" destOrd="0" presId="urn:microsoft.com/office/officeart/2005/8/layout/list1"/>
    <dgm:cxn modelId="{5D5E04C7-7B53-4CDE-AE9A-BC0E4EE2E1C9}" type="presOf" srcId="{31EFEB95-B54B-422B-BE32-78FA1FF764DD}" destId="{7D3D7054-2141-4D96-851E-DCA15BF5F3C6}" srcOrd="1" destOrd="0" presId="urn:microsoft.com/office/officeart/2005/8/layout/list1"/>
    <dgm:cxn modelId="{ABB074E9-9DE9-4807-80C8-D434F72C97A7}" srcId="{E58E7FEA-7D22-4EF8-BF58-87DC4CC6218B}" destId="{F2B1BBE1-7A23-4830-92A4-9108D4FCAD02}" srcOrd="0" destOrd="0" parTransId="{7D109587-F89A-400A-9277-1561B683116C}" sibTransId="{2AF762F2-1512-460D-8F22-F3BF5F1FA15A}"/>
    <dgm:cxn modelId="{991A8BA0-00FB-4A64-9D1E-657B07907E72}" type="presParOf" srcId="{8AF7DF3E-03C2-5E47-95A4-40E0272F40AA}" destId="{0B6DD831-94F5-4F41-877B-4BCEB710F6A6}" srcOrd="0" destOrd="0" presId="urn:microsoft.com/office/officeart/2005/8/layout/list1"/>
    <dgm:cxn modelId="{BE291AE5-0967-4951-8ED8-B327020DDFD6}" type="presParOf" srcId="{0B6DD831-94F5-4F41-877B-4BCEB710F6A6}" destId="{6585EF06-8EE1-4B17-91A0-1D9547D0B9D3}" srcOrd="0" destOrd="0" presId="urn:microsoft.com/office/officeart/2005/8/layout/list1"/>
    <dgm:cxn modelId="{A0882FBB-E21E-4205-A062-A2F69AF1399D}" type="presParOf" srcId="{0B6DD831-94F5-4F41-877B-4BCEB710F6A6}" destId="{50AC0759-869F-4311-B418-06096E78BB75}" srcOrd="1" destOrd="0" presId="urn:microsoft.com/office/officeart/2005/8/layout/list1"/>
    <dgm:cxn modelId="{11EE4E27-18DB-480F-872C-AEB47F35C487}" type="presParOf" srcId="{8AF7DF3E-03C2-5E47-95A4-40E0272F40AA}" destId="{ED515F62-53F2-40A3-8BE3-FE0A119D005C}" srcOrd="1" destOrd="0" presId="urn:microsoft.com/office/officeart/2005/8/layout/list1"/>
    <dgm:cxn modelId="{60077F6E-680A-4928-9235-7CD52768345A}" type="presParOf" srcId="{8AF7DF3E-03C2-5E47-95A4-40E0272F40AA}" destId="{F793D1E6-B671-4519-833B-9903A6EFC715}" srcOrd="2" destOrd="0" presId="urn:microsoft.com/office/officeart/2005/8/layout/list1"/>
    <dgm:cxn modelId="{DCD9142B-5A4B-4EE1-B30E-1E4B6480F580}" type="presParOf" srcId="{8AF7DF3E-03C2-5E47-95A4-40E0272F40AA}" destId="{A67146CF-0BBD-40CE-8D81-A9A6620261B9}" srcOrd="3" destOrd="0" presId="urn:microsoft.com/office/officeart/2005/8/layout/list1"/>
    <dgm:cxn modelId="{862A0FE8-02EA-478A-8B02-F2EA656C8BA1}" type="presParOf" srcId="{8AF7DF3E-03C2-5E47-95A4-40E0272F40AA}" destId="{36589942-C38F-4674-943F-E82A87673880}" srcOrd="4" destOrd="0" presId="urn:microsoft.com/office/officeart/2005/8/layout/list1"/>
    <dgm:cxn modelId="{C96A7F30-0DD5-42CA-8955-BD1F493463CE}" type="presParOf" srcId="{36589942-C38F-4674-943F-E82A87673880}" destId="{8A08CF27-9639-4FF0-8F7B-FF7B1124FDF1}" srcOrd="0" destOrd="0" presId="urn:microsoft.com/office/officeart/2005/8/layout/list1"/>
    <dgm:cxn modelId="{304EE1C7-58F0-468C-B987-164B977EF2F7}" type="presParOf" srcId="{36589942-C38F-4674-943F-E82A87673880}" destId="{3067A231-E1AD-4011-AC2C-3716E50F0765}" srcOrd="1" destOrd="0" presId="urn:microsoft.com/office/officeart/2005/8/layout/list1"/>
    <dgm:cxn modelId="{304AD202-A42C-4E75-8869-8B3EE18D0C89}" type="presParOf" srcId="{8AF7DF3E-03C2-5E47-95A4-40E0272F40AA}" destId="{7F507881-A67B-4B07-9944-AB17B6E175AA}" srcOrd="5" destOrd="0" presId="urn:microsoft.com/office/officeart/2005/8/layout/list1"/>
    <dgm:cxn modelId="{6C4BC91F-4E1D-449C-891D-3B84DAF13449}" type="presParOf" srcId="{8AF7DF3E-03C2-5E47-95A4-40E0272F40AA}" destId="{79B287E0-DDBD-4959-AF0B-0B0FA67B4088}" srcOrd="6" destOrd="0" presId="urn:microsoft.com/office/officeart/2005/8/layout/list1"/>
    <dgm:cxn modelId="{3F5F66D2-6A0E-4BC1-92BD-D76400EF1188}" type="presParOf" srcId="{8AF7DF3E-03C2-5E47-95A4-40E0272F40AA}" destId="{C32B4785-EE19-4EA1-9D0C-A422577858B3}" srcOrd="7" destOrd="0" presId="urn:microsoft.com/office/officeart/2005/8/layout/list1"/>
    <dgm:cxn modelId="{49AF3FEC-70F3-47CE-A118-4AFB3FD8D861}" type="presParOf" srcId="{8AF7DF3E-03C2-5E47-95A4-40E0272F40AA}" destId="{527235E1-5CEB-4AE1-AA60-850D01ADF08F}" srcOrd="8" destOrd="0" presId="urn:microsoft.com/office/officeart/2005/8/layout/list1"/>
    <dgm:cxn modelId="{58B136BA-ACFC-43FC-8FA3-CE80656482E6}" type="presParOf" srcId="{527235E1-5CEB-4AE1-AA60-850D01ADF08F}" destId="{6174EF12-62CB-4B81-87B6-233ABE6B7DF5}" srcOrd="0" destOrd="0" presId="urn:microsoft.com/office/officeart/2005/8/layout/list1"/>
    <dgm:cxn modelId="{77C82248-8B8D-4E58-9FBC-53EB5D2AD321}" type="presParOf" srcId="{527235E1-5CEB-4AE1-AA60-850D01ADF08F}" destId="{87B005D3-DB47-48A5-AF89-EDC4041F0C29}" srcOrd="1" destOrd="0" presId="urn:microsoft.com/office/officeart/2005/8/layout/list1"/>
    <dgm:cxn modelId="{77363190-E662-4EF3-A683-989DAB925E7A}" type="presParOf" srcId="{8AF7DF3E-03C2-5E47-95A4-40E0272F40AA}" destId="{8CCF54CF-2624-4385-A05D-8880B99D021A}" srcOrd="9" destOrd="0" presId="urn:microsoft.com/office/officeart/2005/8/layout/list1"/>
    <dgm:cxn modelId="{82E38517-E035-4A53-8E27-288904714999}" type="presParOf" srcId="{8AF7DF3E-03C2-5E47-95A4-40E0272F40AA}" destId="{08BD021E-F057-43EB-A046-3087BA25443D}" srcOrd="10" destOrd="0" presId="urn:microsoft.com/office/officeart/2005/8/layout/list1"/>
    <dgm:cxn modelId="{2FC2361C-AC83-44C0-ABD6-CA2739A73A4F}" type="presParOf" srcId="{8AF7DF3E-03C2-5E47-95A4-40E0272F40AA}" destId="{D9979A82-FC01-49DF-9CAB-E955BF696736}" srcOrd="11" destOrd="0" presId="urn:microsoft.com/office/officeart/2005/8/layout/list1"/>
    <dgm:cxn modelId="{AC7BFD12-69D7-4CAC-8BC3-86BF9A6E89CD}" type="presParOf" srcId="{8AF7DF3E-03C2-5E47-95A4-40E0272F40AA}" destId="{73000A3E-0C99-4E6B-A273-0A7442C04148}" srcOrd="12" destOrd="0" presId="urn:microsoft.com/office/officeart/2005/8/layout/list1"/>
    <dgm:cxn modelId="{3A2C0EF5-2872-4712-B704-A19B53B48ECC}" type="presParOf" srcId="{73000A3E-0C99-4E6B-A273-0A7442C04148}" destId="{03DF3093-9628-44E2-8172-C4171A1347AC}" srcOrd="0" destOrd="0" presId="urn:microsoft.com/office/officeart/2005/8/layout/list1"/>
    <dgm:cxn modelId="{C0DFE200-34DC-44C9-9867-48E349E72CEE}" type="presParOf" srcId="{73000A3E-0C99-4E6B-A273-0A7442C04148}" destId="{7D3D7054-2141-4D96-851E-DCA15BF5F3C6}" srcOrd="1" destOrd="0" presId="urn:microsoft.com/office/officeart/2005/8/layout/list1"/>
    <dgm:cxn modelId="{7BF56034-C925-4C5A-9377-9C2634C0BEF6}" type="presParOf" srcId="{8AF7DF3E-03C2-5E47-95A4-40E0272F40AA}" destId="{98BBA0BC-4F6D-4156-A2E9-77F99BCB8B1E}" srcOrd="13" destOrd="0" presId="urn:microsoft.com/office/officeart/2005/8/layout/list1"/>
    <dgm:cxn modelId="{AFC8093B-AF93-400E-910C-AF52B21597CC}" type="presParOf" srcId="{8AF7DF3E-03C2-5E47-95A4-40E0272F40AA}" destId="{258ECE04-2134-47B4-9AB6-881E42191141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CC5F853-7371-4310-972F-FE1766FA362E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0F3E238-A423-49C2-A819-E1000D5E5D58}">
      <dgm:prSet/>
      <dgm:spPr/>
      <dgm:t>
        <a:bodyPr/>
        <a:lstStyle/>
        <a:p>
          <a:r>
            <a:rPr lang="en-US" dirty="0"/>
            <a:t>Iteration refers to the ability to execute a block of code multiple times.</a:t>
          </a:r>
        </a:p>
      </dgm:t>
    </dgm:pt>
    <dgm:pt modelId="{5546A649-5BA1-47BB-AFFA-972344D28D8A}" type="parTrans" cxnId="{8B56239E-FEA3-4A52-AD9A-60FB469B7ACD}">
      <dgm:prSet/>
      <dgm:spPr/>
      <dgm:t>
        <a:bodyPr/>
        <a:lstStyle/>
        <a:p>
          <a:endParaRPr lang="en-US"/>
        </a:p>
      </dgm:t>
    </dgm:pt>
    <dgm:pt modelId="{D22A6558-29E5-4F0F-8ADF-94A66FF6C2D6}" type="sibTrans" cxnId="{8B56239E-FEA3-4A52-AD9A-60FB469B7ACD}">
      <dgm:prSet/>
      <dgm:spPr/>
      <dgm:t>
        <a:bodyPr/>
        <a:lstStyle/>
        <a:p>
          <a:endParaRPr lang="en-US"/>
        </a:p>
      </dgm:t>
    </dgm:pt>
    <dgm:pt modelId="{3DEEE3EE-7673-4DB5-AB81-1DD974958858}">
      <dgm:prSet/>
      <dgm:spPr/>
      <dgm:t>
        <a:bodyPr/>
        <a:lstStyle/>
        <a:p>
          <a:r>
            <a:rPr lang="en-US" dirty="0"/>
            <a:t>An iteration, also know as a </a:t>
          </a:r>
          <a:r>
            <a:rPr lang="en-US" b="1" dirty="0"/>
            <a:t>loop</a:t>
          </a:r>
          <a:r>
            <a:rPr lang="en-US" dirty="0"/>
            <a:t>, allows you to write the sequence of operations once and run it multiple times.</a:t>
          </a:r>
        </a:p>
      </dgm:t>
    </dgm:pt>
    <dgm:pt modelId="{37170E65-0BB6-433C-B62E-F08405462088}" type="parTrans" cxnId="{6776220D-02F8-4FD6-A021-2D776878CC2F}">
      <dgm:prSet/>
      <dgm:spPr/>
      <dgm:t>
        <a:bodyPr/>
        <a:lstStyle/>
        <a:p>
          <a:endParaRPr lang="en-US"/>
        </a:p>
      </dgm:t>
    </dgm:pt>
    <dgm:pt modelId="{340D0639-5B05-45A9-9747-380A5355C3A3}" type="sibTrans" cxnId="{6776220D-02F8-4FD6-A021-2D776878CC2F}">
      <dgm:prSet/>
      <dgm:spPr/>
      <dgm:t>
        <a:bodyPr/>
        <a:lstStyle/>
        <a:p>
          <a:endParaRPr lang="en-US"/>
        </a:p>
      </dgm:t>
    </dgm:pt>
    <dgm:pt modelId="{8EAC9858-2396-4586-A39C-B4E8A72E2ABD}" type="pres">
      <dgm:prSet presAssocID="{BCC5F853-7371-4310-972F-FE1766FA362E}" presName="linear" presStyleCnt="0">
        <dgm:presLayoutVars>
          <dgm:animLvl val="lvl"/>
          <dgm:resizeHandles val="exact"/>
        </dgm:presLayoutVars>
      </dgm:prSet>
      <dgm:spPr/>
    </dgm:pt>
    <dgm:pt modelId="{3E13A3C4-9ACE-4598-ADC8-2AFF6CA3E724}" type="pres">
      <dgm:prSet presAssocID="{80F3E238-A423-49C2-A819-E1000D5E5D5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61EE9BB-BEBF-4C51-99F4-98396FFD388F}" type="pres">
      <dgm:prSet presAssocID="{D22A6558-29E5-4F0F-8ADF-94A66FF6C2D6}" presName="spacer" presStyleCnt="0"/>
      <dgm:spPr/>
    </dgm:pt>
    <dgm:pt modelId="{8DCF2562-B868-4D32-BC46-B896EF8AB0F2}" type="pres">
      <dgm:prSet presAssocID="{3DEEE3EE-7673-4DB5-AB81-1DD974958858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6776220D-02F8-4FD6-A021-2D776878CC2F}" srcId="{BCC5F853-7371-4310-972F-FE1766FA362E}" destId="{3DEEE3EE-7673-4DB5-AB81-1DD974958858}" srcOrd="1" destOrd="0" parTransId="{37170E65-0BB6-433C-B62E-F08405462088}" sibTransId="{340D0639-5B05-45A9-9747-380A5355C3A3}"/>
    <dgm:cxn modelId="{C8A7645D-37F5-45E0-B433-012D111C4342}" type="presOf" srcId="{3DEEE3EE-7673-4DB5-AB81-1DD974958858}" destId="{8DCF2562-B868-4D32-BC46-B896EF8AB0F2}" srcOrd="0" destOrd="0" presId="urn:microsoft.com/office/officeart/2005/8/layout/vList2"/>
    <dgm:cxn modelId="{B918B344-E706-42F6-8C54-4C032513829D}" type="presOf" srcId="{80F3E238-A423-49C2-A819-E1000D5E5D58}" destId="{3E13A3C4-9ACE-4598-ADC8-2AFF6CA3E724}" srcOrd="0" destOrd="0" presId="urn:microsoft.com/office/officeart/2005/8/layout/vList2"/>
    <dgm:cxn modelId="{8B56239E-FEA3-4A52-AD9A-60FB469B7ACD}" srcId="{BCC5F853-7371-4310-972F-FE1766FA362E}" destId="{80F3E238-A423-49C2-A819-E1000D5E5D58}" srcOrd="0" destOrd="0" parTransId="{5546A649-5BA1-47BB-AFFA-972344D28D8A}" sibTransId="{D22A6558-29E5-4F0F-8ADF-94A66FF6C2D6}"/>
    <dgm:cxn modelId="{EF3277D4-5E49-4F0A-96EA-B2EF435859FA}" type="presOf" srcId="{BCC5F853-7371-4310-972F-FE1766FA362E}" destId="{8EAC9858-2396-4586-A39C-B4E8A72E2ABD}" srcOrd="0" destOrd="0" presId="urn:microsoft.com/office/officeart/2005/8/layout/vList2"/>
    <dgm:cxn modelId="{B07B9221-058D-4EA7-8040-17C4CE5842F1}" type="presParOf" srcId="{8EAC9858-2396-4586-A39C-B4E8A72E2ABD}" destId="{3E13A3C4-9ACE-4598-ADC8-2AFF6CA3E724}" srcOrd="0" destOrd="0" presId="urn:microsoft.com/office/officeart/2005/8/layout/vList2"/>
    <dgm:cxn modelId="{B8A71E8E-A5D4-49FD-8DD6-C58E544904F0}" type="presParOf" srcId="{8EAC9858-2396-4586-A39C-B4E8A72E2ABD}" destId="{961EE9BB-BEBF-4C51-99F4-98396FFD388F}" srcOrd="1" destOrd="0" presId="urn:microsoft.com/office/officeart/2005/8/layout/vList2"/>
    <dgm:cxn modelId="{CF9E78F0-DE52-418E-9789-F77AFF7D9C50}" type="presParOf" srcId="{8EAC9858-2396-4586-A39C-B4E8A72E2ABD}" destId="{8DCF2562-B868-4D32-BC46-B896EF8AB0F2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3E566D6-FF46-1D45-856A-401134CC666F}" type="doc">
      <dgm:prSet loTypeId="urn:microsoft.com/office/officeart/2005/8/layout/default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B66F62F-DE20-4929-B5E4-4FEA4A3FECB6}">
      <dgm:prSet/>
      <dgm:spPr/>
      <dgm:t>
        <a:bodyPr/>
        <a:lstStyle/>
        <a:p>
          <a:r>
            <a:rPr lang="en-US" dirty="0"/>
            <a:t>Iterations</a:t>
          </a:r>
        </a:p>
      </dgm:t>
    </dgm:pt>
    <dgm:pt modelId="{4142E8F1-C108-41E1-9697-C3071B8D7289}" type="parTrans" cxnId="{808F61D5-72F1-440C-8787-CB032909621E}">
      <dgm:prSet/>
      <dgm:spPr/>
      <dgm:t>
        <a:bodyPr/>
        <a:lstStyle/>
        <a:p>
          <a:endParaRPr lang="en-US"/>
        </a:p>
      </dgm:t>
    </dgm:pt>
    <dgm:pt modelId="{0C67568D-5AF3-4D20-8C8A-FD5BE5FDD30C}" type="sibTrans" cxnId="{808F61D5-72F1-440C-8787-CB032909621E}">
      <dgm:prSet/>
      <dgm:spPr/>
      <dgm:t>
        <a:bodyPr/>
        <a:lstStyle/>
        <a:p>
          <a:endParaRPr lang="en-US"/>
        </a:p>
      </dgm:t>
    </dgm:pt>
    <dgm:pt modelId="{72093AC2-D310-4B75-97D5-35DF25387A30}">
      <dgm:prSet/>
      <dgm:spPr/>
      <dgm:t>
        <a:bodyPr/>
        <a:lstStyle/>
        <a:p>
          <a:r>
            <a:rPr lang="en-US" dirty="0"/>
            <a:t>for Loop</a:t>
          </a:r>
        </a:p>
      </dgm:t>
    </dgm:pt>
    <dgm:pt modelId="{E32F06BB-50D0-4238-A4BA-EB7E510E2E69}" type="parTrans" cxnId="{44BED922-18B1-4D89-AB9B-C0362C6A1C34}">
      <dgm:prSet/>
      <dgm:spPr/>
      <dgm:t>
        <a:bodyPr/>
        <a:lstStyle/>
        <a:p>
          <a:endParaRPr lang="en-US"/>
        </a:p>
      </dgm:t>
    </dgm:pt>
    <dgm:pt modelId="{559ADF1C-1A46-427C-A2E9-09E0FAF89D59}" type="sibTrans" cxnId="{44BED922-18B1-4D89-AB9B-C0362C6A1C34}">
      <dgm:prSet/>
      <dgm:spPr/>
      <dgm:t>
        <a:bodyPr/>
        <a:lstStyle/>
        <a:p>
          <a:endParaRPr lang="en-US"/>
        </a:p>
      </dgm:t>
    </dgm:pt>
    <dgm:pt modelId="{96AA15F8-41D6-4297-B979-C19019569D90}">
      <dgm:prSet/>
      <dgm:spPr/>
      <dgm:t>
        <a:bodyPr/>
        <a:lstStyle/>
        <a:p>
          <a:r>
            <a:rPr lang="en-US" dirty="0"/>
            <a:t>while Loop</a:t>
          </a:r>
        </a:p>
      </dgm:t>
    </dgm:pt>
    <dgm:pt modelId="{200D9F4C-1E75-44DE-8000-14B9E4F89918}" type="parTrans" cxnId="{E6D85B92-374B-470E-B5F9-2A4F6A2EA209}">
      <dgm:prSet/>
      <dgm:spPr/>
      <dgm:t>
        <a:bodyPr/>
        <a:lstStyle/>
        <a:p>
          <a:endParaRPr lang="en-US"/>
        </a:p>
      </dgm:t>
    </dgm:pt>
    <dgm:pt modelId="{79A0AB71-5FD0-40E0-B5BE-9F03DD233EFB}" type="sibTrans" cxnId="{E6D85B92-374B-470E-B5F9-2A4F6A2EA209}">
      <dgm:prSet/>
      <dgm:spPr/>
      <dgm:t>
        <a:bodyPr/>
        <a:lstStyle/>
        <a:p>
          <a:endParaRPr lang="en-US"/>
        </a:p>
      </dgm:t>
    </dgm:pt>
    <dgm:pt modelId="{22A3FA38-F878-4DD6-AFCA-1F75C3EED6C3}">
      <dgm:prSet/>
      <dgm:spPr/>
      <dgm:t>
        <a:bodyPr/>
        <a:lstStyle/>
        <a:p>
          <a:r>
            <a:rPr lang="en-US" dirty="0"/>
            <a:t>range()</a:t>
          </a:r>
        </a:p>
      </dgm:t>
    </dgm:pt>
    <dgm:pt modelId="{4EFFF814-634F-4DF3-89DA-85FA798EF7EB}" type="parTrans" cxnId="{18E1F0A6-2960-416E-A968-21315D0E4D55}">
      <dgm:prSet/>
      <dgm:spPr/>
      <dgm:t>
        <a:bodyPr/>
        <a:lstStyle/>
        <a:p>
          <a:endParaRPr lang="en-US"/>
        </a:p>
      </dgm:t>
    </dgm:pt>
    <dgm:pt modelId="{77986585-FB91-4A52-85E3-72637891C981}" type="sibTrans" cxnId="{18E1F0A6-2960-416E-A968-21315D0E4D55}">
      <dgm:prSet/>
      <dgm:spPr/>
      <dgm:t>
        <a:bodyPr/>
        <a:lstStyle/>
        <a:p>
          <a:endParaRPr lang="en-US"/>
        </a:p>
      </dgm:t>
    </dgm:pt>
    <dgm:pt modelId="{0A7BD5AD-BC93-42A2-A7E3-9A5AD7A17296}">
      <dgm:prSet/>
      <dgm:spPr/>
      <dgm:t>
        <a:bodyPr/>
        <a:lstStyle/>
        <a:p>
          <a:r>
            <a:rPr lang="en-US" dirty="0"/>
            <a:t>break</a:t>
          </a:r>
        </a:p>
      </dgm:t>
    </dgm:pt>
    <dgm:pt modelId="{80ACCD20-F193-4087-AF1C-EFB55AD66641}" type="parTrans" cxnId="{30ACA892-08C0-45FD-9C98-AF0E2C5EBB2F}">
      <dgm:prSet/>
      <dgm:spPr/>
      <dgm:t>
        <a:bodyPr/>
        <a:lstStyle/>
        <a:p>
          <a:endParaRPr lang="en-US"/>
        </a:p>
      </dgm:t>
    </dgm:pt>
    <dgm:pt modelId="{7D659D18-D957-429C-83EE-55F70410BA0C}" type="sibTrans" cxnId="{30ACA892-08C0-45FD-9C98-AF0E2C5EBB2F}">
      <dgm:prSet/>
      <dgm:spPr/>
      <dgm:t>
        <a:bodyPr/>
        <a:lstStyle/>
        <a:p>
          <a:endParaRPr lang="en-US"/>
        </a:p>
      </dgm:t>
    </dgm:pt>
    <dgm:pt modelId="{AF8E7113-0096-0546-9674-E4A3F16A3FB8}" type="pres">
      <dgm:prSet presAssocID="{B3E566D6-FF46-1D45-856A-401134CC666F}" presName="diagram" presStyleCnt="0">
        <dgm:presLayoutVars>
          <dgm:dir/>
          <dgm:resizeHandles val="exact"/>
        </dgm:presLayoutVars>
      </dgm:prSet>
      <dgm:spPr/>
    </dgm:pt>
    <dgm:pt modelId="{E2FEAA11-2DC5-450D-B654-4D7D1A0EC8E3}" type="pres">
      <dgm:prSet presAssocID="{4B66F62F-DE20-4929-B5E4-4FEA4A3FECB6}" presName="node" presStyleLbl="node1" presStyleIdx="0" presStyleCnt="5">
        <dgm:presLayoutVars>
          <dgm:bulletEnabled val="1"/>
        </dgm:presLayoutVars>
      </dgm:prSet>
      <dgm:spPr/>
    </dgm:pt>
    <dgm:pt modelId="{27560215-B049-4472-BAF0-BB9B8605E55E}" type="pres">
      <dgm:prSet presAssocID="{0C67568D-5AF3-4D20-8C8A-FD5BE5FDD30C}" presName="sibTrans" presStyleCnt="0"/>
      <dgm:spPr/>
    </dgm:pt>
    <dgm:pt modelId="{491B5D53-150F-429E-A01C-A876D5F74357}" type="pres">
      <dgm:prSet presAssocID="{72093AC2-D310-4B75-97D5-35DF25387A30}" presName="node" presStyleLbl="node1" presStyleIdx="1" presStyleCnt="5">
        <dgm:presLayoutVars>
          <dgm:bulletEnabled val="1"/>
        </dgm:presLayoutVars>
      </dgm:prSet>
      <dgm:spPr/>
    </dgm:pt>
    <dgm:pt modelId="{E3B8E0E6-1FA4-4BBA-B279-D8392E0F7053}" type="pres">
      <dgm:prSet presAssocID="{559ADF1C-1A46-427C-A2E9-09E0FAF89D59}" presName="sibTrans" presStyleCnt="0"/>
      <dgm:spPr/>
    </dgm:pt>
    <dgm:pt modelId="{A271F42E-F0F1-4DAF-B625-6DF74A6B20AA}" type="pres">
      <dgm:prSet presAssocID="{96AA15F8-41D6-4297-B979-C19019569D90}" presName="node" presStyleLbl="node1" presStyleIdx="2" presStyleCnt="5">
        <dgm:presLayoutVars>
          <dgm:bulletEnabled val="1"/>
        </dgm:presLayoutVars>
      </dgm:prSet>
      <dgm:spPr/>
    </dgm:pt>
    <dgm:pt modelId="{1B60BCB9-B5D0-4ACF-9918-D40B57C9D405}" type="pres">
      <dgm:prSet presAssocID="{79A0AB71-5FD0-40E0-B5BE-9F03DD233EFB}" presName="sibTrans" presStyleCnt="0"/>
      <dgm:spPr/>
    </dgm:pt>
    <dgm:pt modelId="{3EA0922C-C5A6-4057-B039-3C3EA3053782}" type="pres">
      <dgm:prSet presAssocID="{22A3FA38-F878-4DD6-AFCA-1F75C3EED6C3}" presName="node" presStyleLbl="node1" presStyleIdx="3" presStyleCnt="5">
        <dgm:presLayoutVars>
          <dgm:bulletEnabled val="1"/>
        </dgm:presLayoutVars>
      </dgm:prSet>
      <dgm:spPr/>
    </dgm:pt>
    <dgm:pt modelId="{6691ED06-191F-4127-9511-7DA0198D3820}" type="pres">
      <dgm:prSet presAssocID="{77986585-FB91-4A52-85E3-72637891C981}" presName="sibTrans" presStyleCnt="0"/>
      <dgm:spPr/>
    </dgm:pt>
    <dgm:pt modelId="{6FF11781-3148-47B8-8133-338E9F5B46FC}" type="pres">
      <dgm:prSet presAssocID="{0A7BD5AD-BC93-42A2-A7E3-9A5AD7A17296}" presName="node" presStyleLbl="node1" presStyleIdx="4" presStyleCnt="5">
        <dgm:presLayoutVars>
          <dgm:bulletEnabled val="1"/>
        </dgm:presLayoutVars>
      </dgm:prSet>
      <dgm:spPr/>
    </dgm:pt>
  </dgm:ptLst>
  <dgm:cxnLst>
    <dgm:cxn modelId="{5A3B9714-88D7-4864-B8D6-24702C75FED1}" type="presOf" srcId="{4B66F62F-DE20-4929-B5E4-4FEA4A3FECB6}" destId="{E2FEAA11-2DC5-450D-B654-4D7D1A0EC8E3}" srcOrd="0" destOrd="0" presId="urn:microsoft.com/office/officeart/2005/8/layout/default"/>
    <dgm:cxn modelId="{DA04D122-9BEF-4ED2-B980-B62E6AD455C4}" type="presOf" srcId="{96AA15F8-41D6-4297-B979-C19019569D90}" destId="{A271F42E-F0F1-4DAF-B625-6DF74A6B20AA}" srcOrd="0" destOrd="0" presId="urn:microsoft.com/office/officeart/2005/8/layout/default"/>
    <dgm:cxn modelId="{44BED922-18B1-4D89-AB9B-C0362C6A1C34}" srcId="{B3E566D6-FF46-1D45-856A-401134CC666F}" destId="{72093AC2-D310-4B75-97D5-35DF25387A30}" srcOrd="1" destOrd="0" parTransId="{E32F06BB-50D0-4238-A4BA-EB7E510E2E69}" sibTransId="{559ADF1C-1A46-427C-A2E9-09E0FAF89D59}"/>
    <dgm:cxn modelId="{ABD1816A-0780-4900-AD3A-950E6D214D7F}" type="presOf" srcId="{22A3FA38-F878-4DD6-AFCA-1F75C3EED6C3}" destId="{3EA0922C-C5A6-4057-B039-3C3EA3053782}" srcOrd="0" destOrd="0" presId="urn:microsoft.com/office/officeart/2005/8/layout/default"/>
    <dgm:cxn modelId="{D4349052-9F9E-4F53-9BCF-BEF15E4B5ED6}" type="presOf" srcId="{72093AC2-D310-4B75-97D5-35DF25387A30}" destId="{491B5D53-150F-429E-A01C-A876D5F74357}" srcOrd="0" destOrd="0" presId="urn:microsoft.com/office/officeart/2005/8/layout/default"/>
    <dgm:cxn modelId="{E6D85B92-374B-470E-B5F9-2A4F6A2EA209}" srcId="{B3E566D6-FF46-1D45-856A-401134CC666F}" destId="{96AA15F8-41D6-4297-B979-C19019569D90}" srcOrd="2" destOrd="0" parTransId="{200D9F4C-1E75-44DE-8000-14B9E4F89918}" sibTransId="{79A0AB71-5FD0-40E0-B5BE-9F03DD233EFB}"/>
    <dgm:cxn modelId="{30ACA892-08C0-45FD-9C98-AF0E2C5EBB2F}" srcId="{B3E566D6-FF46-1D45-856A-401134CC666F}" destId="{0A7BD5AD-BC93-42A2-A7E3-9A5AD7A17296}" srcOrd="4" destOrd="0" parTransId="{80ACCD20-F193-4087-AF1C-EFB55AD66641}" sibTransId="{7D659D18-D957-429C-83EE-55F70410BA0C}"/>
    <dgm:cxn modelId="{18E1F0A6-2960-416E-A968-21315D0E4D55}" srcId="{B3E566D6-FF46-1D45-856A-401134CC666F}" destId="{22A3FA38-F878-4DD6-AFCA-1F75C3EED6C3}" srcOrd="3" destOrd="0" parTransId="{4EFFF814-634F-4DF3-89DA-85FA798EF7EB}" sibTransId="{77986585-FB91-4A52-85E3-72637891C981}"/>
    <dgm:cxn modelId="{4B9C27B1-6289-4572-9DFD-1A904581308B}" type="presOf" srcId="{0A7BD5AD-BC93-42A2-A7E3-9A5AD7A17296}" destId="{6FF11781-3148-47B8-8133-338E9F5B46FC}" srcOrd="0" destOrd="0" presId="urn:microsoft.com/office/officeart/2005/8/layout/default"/>
    <dgm:cxn modelId="{67563CCF-C1A2-6746-BAE6-F1E48492C486}" type="presOf" srcId="{B3E566D6-FF46-1D45-856A-401134CC666F}" destId="{AF8E7113-0096-0546-9674-E4A3F16A3FB8}" srcOrd="0" destOrd="0" presId="urn:microsoft.com/office/officeart/2005/8/layout/default"/>
    <dgm:cxn modelId="{808F61D5-72F1-440C-8787-CB032909621E}" srcId="{B3E566D6-FF46-1D45-856A-401134CC666F}" destId="{4B66F62F-DE20-4929-B5E4-4FEA4A3FECB6}" srcOrd="0" destOrd="0" parTransId="{4142E8F1-C108-41E1-9697-C3071B8D7289}" sibTransId="{0C67568D-5AF3-4D20-8C8A-FD5BE5FDD30C}"/>
    <dgm:cxn modelId="{FEF05F62-7F52-4586-ABD4-9A6FADBF1425}" type="presParOf" srcId="{AF8E7113-0096-0546-9674-E4A3F16A3FB8}" destId="{E2FEAA11-2DC5-450D-B654-4D7D1A0EC8E3}" srcOrd="0" destOrd="0" presId="urn:microsoft.com/office/officeart/2005/8/layout/default"/>
    <dgm:cxn modelId="{A3797BC5-448F-4282-AA30-AD2BD6847056}" type="presParOf" srcId="{AF8E7113-0096-0546-9674-E4A3F16A3FB8}" destId="{27560215-B049-4472-BAF0-BB9B8605E55E}" srcOrd="1" destOrd="0" presId="urn:microsoft.com/office/officeart/2005/8/layout/default"/>
    <dgm:cxn modelId="{49C9A75F-58A2-4CDF-AA61-7470A12D5835}" type="presParOf" srcId="{AF8E7113-0096-0546-9674-E4A3F16A3FB8}" destId="{491B5D53-150F-429E-A01C-A876D5F74357}" srcOrd="2" destOrd="0" presId="urn:microsoft.com/office/officeart/2005/8/layout/default"/>
    <dgm:cxn modelId="{7086A8D1-AE5A-454C-B09D-A647BD46E37B}" type="presParOf" srcId="{AF8E7113-0096-0546-9674-E4A3F16A3FB8}" destId="{E3B8E0E6-1FA4-4BBA-B279-D8392E0F7053}" srcOrd="3" destOrd="0" presId="urn:microsoft.com/office/officeart/2005/8/layout/default"/>
    <dgm:cxn modelId="{7D5D4C06-A059-4FEC-8B28-1212B001266F}" type="presParOf" srcId="{AF8E7113-0096-0546-9674-E4A3F16A3FB8}" destId="{A271F42E-F0F1-4DAF-B625-6DF74A6B20AA}" srcOrd="4" destOrd="0" presId="urn:microsoft.com/office/officeart/2005/8/layout/default"/>
    <dgm:cxn modelId="{AAB48C84-FFF6-4FA9-9686-E9B75042328E}" type="presParOf" srcId="{AF8E7113-0096-0546-9674-E4A3F16A3FB8}" destId="{1B60BCB9-B5D0-4ACF-9918-D40B57C9D405}" srcOrd="5" destOrd="0" presId="urn:microsoft.com/office/officeart/2005/8/layout/default"/>
    <dgm:cxn modelId="{70AA9446-9BAF-4F0D-91A9-3CD733D72133}" type="presParOf" srcId="{AF8E7113-0096-0546-9674-E4A3F16A3FB8}" destId="{3EA0922C-C5A6-4057-B039-3C3EA3053782}" srcOrd="6" destOrd="0" presId="urn:microsoft.com/office/officeart/2005/8/layout/default"/>
    <dgm:cxn modelId="{CBBA7781-321A-46B5-A01B-8003E0E68A8B}" type="presParOf" srcId="{AF8E7113-0096-0546-9674-E4A3F16A3FB8}" destId="{6691ED06-191F-4127-9511-7DA0198D3820}" srcOrd="7" destOrd="0" presId="urn:microsoft.com/office/officeart/2005/8/layout/default"/>
    <dgm:cxn modelId="{C09F8A4A-A1EA-49A7-9BE7-A4A43DA4F5F7}" type="presParOf" srcId="{AF8E7113-0096-0546-9674-E4A3F16A3FB8}" destId="{6FF11781-3148-47B8-8133-338E9F5B46FC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93D1E6-B671-4519-833B-9903A6EFC715}">
      <dsp:nvSpPr>
        <dsp:cNvPr id="0" name=""/>
        <dsp:cNvSpPr/>
      </dsp:nvSpPr>
      <dsp:spPr>
        <a:xfrm>
          <a:off x="0" y="449805"/>
          <a:ext cx="7012370" cy="65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AC0759-869F-4311-B418-06096E78BB75}">
      <dsp:nvSpPr>
        <dsp:cNvPr id="0" name=""/>
        <dsp:cNvSpPr/>
      </dsp:nvSpPr>
      <dsp:spPr>
        <a:xfrm>
          <a:off x="350618" y="66045"/>
          <a:ext cx="4908659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5536" tIns="0" rIns="185536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Overview of Iteration Control Structures in Python</a:t>
          </a:r>
        </a:p>
      </dsp:txBody>
      <dsp:txXfrm>
        <a:off x="388085" y="103512"/>
        <a:ext cx="4833725" cy="692586"/>
      </dsp:txXfrm>
    </dsp:sp>
    <dsp:sp modelId="{79B287E0-DDBD-4959-AF0B-0B0FA67B4088}">
      <dsp:nvSpPr>
        <dsp:cNvPr id="0" name=""/>
        <dsp:cNvSpPr/>
      </dsp:nvSpPr>
      <dsp:spPr>
        <a:xfrm>
          <a:off x="0" y="1629165"/>
          <a:ext cx="7012370" cy="65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67A231-E1AD-4011-AC2C-3716E50F0765}">
      <dsp:nvSpPr>
        <dsp:cNvPr id="0" name=""/>
        <dsp:cNvSpPr/>
      </dsp:nvSpPr>
      <dsp:spPr>
        <a:xfrm>
          <a:off x="350618" y="1245405"/>
          <a:ext cx="4908659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5536" tIns="0" rIns="185536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Types of Iterations in Python</a:t>
          </a:r>
        </a:p>
      </dsp:txBody>
      <dsp:txXfrm>
        <a:off x="388085" y="1282872"/>
        <a:ext cx="4833725" cy="692586"/>
      </dsp:txXfrm>
    </dsp:sp>
    <dsp:sp modelId="{08BD021E-F057-43EB-A046-3087BA25443D}">
      <dsp:nvSpPr>
        <dsp:cNvPr id="0" name=""/>
        <dsp:cNvSpPr/>
      </dsp:nvSpPr>
      <dsp:spPr>
        <a:xfrm>
          <a:off x="0" y="2808525"/>
          <a:ext cx="7012370" cy="65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B005D3-DB47-48A5-AF89-EDC4041F0C29}">
      <dsp:nvSpPr>
        <dsp:cNvPr id="0" name=""/>
        <dsp:cNvSpPr/>
      </dsp:nvSpPr>
      <dsp:spPr>
        <a:xfrm>
          <a:off x="350618" y="2424765"/>
          <a:ext cx="4908659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5536" tIns="0" rIns="185536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Using for Loops with range()</a:t>
          </a:r>
        </a:p>
      </dsp:txBody>
      <dsp:txXfrm>
        <a:off x="388085" y="2462232"/>
        <a:ext cx="4833725" cy="692586"/>
      </dsp:txXfrm>
    </dsp:sp>
    <dsp:sp modelId="{258ECE04-2134-47B4-9AB6-881E42191141}">
      <dsp:nvSpPr>
        <dsp:cNvPr id="0" name=""/>
        <dsp:cNvSpPr/>
      </dsp:nvSpPr>
      <dsp:spPr>
        <a:xfrm>
          <a:off x="0" y="3987885"/>
          <a:ext cx="7012370" cy="65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3D7054-2141-4D96-851E-DCA15BF5F3C6}">
      <dsp:nvSpPr>
        <dsp:cNvPr id="0" name=""/>
        <dsp:cNvSpPr/>
      </dsp:nvSpPr>
      <dsp:spPr>
        <a:xfrm>
          <a:off x="350618" y="3604125"/>
          <a:ext cx="4908659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5536" tIns="0" rIns="185536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For Loops in Problem Solving</a:t>
          </a:r>
        </a:p>
      </dsp:txBody>
      <dsp:txXfrm>
        <a:off x="388085" y="3641592"/>
        <a:ext cx="4833725" cy="6925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13A3C4-9ACE-4598-ADC8-2AFF6CA3E724}">
      <dsp:nvSpPr>
        <dsp:cNvPr id="0" name=""/>
        <dsp:cNvSpPr/>
      </dsp:nvSpPr>
      <dsp:spPr>
        <a:xfrm>
          <a:off x="0" y="437369"/>
          <a:ext cx="11029950" cy="13513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Iteration refers to the ability to execute a block of code multiple times.</a:t>
          </a:r>
        </a:p>
      </dsp:txBody>
      <dsp:txXfrm>
        <a:off x="65967" y="503336"/>
        <a:ext cx="10898016" cy="1219415"/>
      </dsp:txXfrm>
    </dsp:sp>
    <dsp:sp modelId="{8DCF2562-B868-4D32-BC46-B896EF8AB0F2}">
      <dsp:nvSpPr>
        <dsp:cNvPr id="0" name=""/>
        <dsp:cNvSpPr/>
      </dsp:nvSpPr>
      <dsp:spPr>
        <a:xfrm>
          <a:off x="0" y="1889519"/>
          <a:ext cx="11029950" cy="135134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An iteration, also know as a </a:t>
          </a:r>
          <a:r>
            <a:rPr lang="en-US" sz="3500" b="1" kern="1200" dirty="0"/>
            <a:t>loop</a:t>
          </a:r>
          <a:r>
            <a:rPr lang="en-US" sz="3500" kern="1200" dirty="0"/>
            <a:t>, allows you to write the sequence of operations once and run it multiple times.</a:t>
          </a:r>
        </a:p>
      </dsp:txBody>
      <dsp:txXfrm>
        <a:off x="65967" y="1955486"/>
        <a:ext cx="10898016" cy="121941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FEAA11-2DC5-450D-B654-4D7D1A0EC8E3}">
      <dsp:nvSpPr>
        <dsp:cNvPr id="0" name=""/>
        <dsp:cNvSpPr/>
      </dsp:nvSpPr>
      <dsp:spPr>
        <a:xfrm>
          <a:off x="0" y="752443"/>
          <a:ext cx="2411827" cy="144709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Iterations</a:t>
          </a:r>
        </a:p>
      </dsp:txBody>
      <dsp:txXfrm>
        <a:off x="0" y="752443"/>
        <a:ext cx="2411827" cy="1447096"/>
      </dsp:txXfrm>
    </dsp:sp>
    <dsp:sp modelId="{491B5D53-150F-429E-A01C-A876D5F74357}">
      <dsp:nvSpPr>
        <dsp:cNvPr id="0" name=""/>
        <dsp:cNvSpPr/>
      </dsp:nvSpPr>
      <dsp:spPr>
        <a:xfrm>
          <a:off x="2653010" y="752443"/>
          <a:ext cx="2411827" cy="144709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for Loop</a:t>
          </a:r>
        </a:p>
      </dsp:txBody>
      <dsp:txXfrm>
        <a:off x="2653010" y="752443"/>
        <a:ext cx="2411827" cy="1447096"/>
      </dsp:txXfrm>
    </dsp:sp>
    <dsp:sp modelId="{A271F42E-F0F1-4DAF-B625-6DF74A6B20AA}">
      <dsp:nvSpPr>
        <dsp:cNvPr id="0" name=""/>
        <dsp:cNvSpPr/>
      </dsp:nvSpPr>
      <dsp:spPr>
        <a:xfrm>
          <a:off x="5306020" y="752443"/>
          <a:ext cx="2411827" cy="144709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while Loop</a:t>
          </a:r>
        </a:p>
      </dsp:txBody>
      <dsp:txXfrm>
        <a:off x="5306020" y="752443"/>
        <a:ext cx="2411827" cy="1447096"/>
      </dsp:txXfrm>
    </dsp:sp>
    <dsp:sp modelId="{3EA0922C-C5A6-4057-B039-3C3EA3053782}">
      <dsp:nvSpPr>
        <dsp:cNvPr id="0" name=""/>
        <dsp:cNvSpPr/>
      </dsp:nvSpPr>
      <dsp:spPr>
        <a:xfrm>
          <a:off x="1326505" y="2440722"/>
          <a:ext cx="2411827" cy="144709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range()</a:t>
          </a:r>
        </a:p>
      </dsp:txBody>
      <dsp:txXfrm>
        <a:off x="1326505" y="2440722"/>
        <a:ext cx="2411827" cy="1447096"/>
      </dsp:txXfrm>
    </dsp:sp>
    <dsp:sp modelId="{6FF11781-3148-47B8-8133-338E9F5B46FC}">
      <dsp:nvSpPr>
        <dsp:cNvPr id="0" name=""/>
        <dsp:cNvSpPr/>
      </dsp:nvSpPr>
      <dsp:spPr>
        <a:xfrm>
          <a:off x="3979515" y="2440722"/>
          <a:ext cx="2411827" cy="144709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break</a:t>
          </a:r>
        </a:p>
      </dsp:txBody>
      <dsp:txXfrm>
        <a:off x="3979515" y="2440722"/>
        <a:ext cx="2411827" cy="14470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43D1DD-95E1-BB42-ABEC-C406E5285E45}" type="datetimeFigureOut">
              <a:rPr lang="en-AE" smtClean="0"/>
              <a:t>28/10/2025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DE79F0-4AF6-0E47-B59B-FEA88779C15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283849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DE79F0-4AF6-0E47-B59B-FEA88779C15E}" type="slidenum">
              <a:rPr lang="en-AE" smtClean="0"/>
              <a:t>2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8946304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DE79F0-4AF6-0E47-B59B-FEA88779C15E}" type="slidenum">
              <a:rPr lang="en-AE" smtClean="0"/>
              <a:t>3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674440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DE79F0-4AF6-0E47-B59B-FEA88779C15E}" type="slidenum">
              <a:rPr lang="en-AE" smtClean="0"/>
              <a:t>4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5375553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Without loops, you would need to write the same code over and over for each time you wanted to perform an action.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DE79F0-4AF6-0E47-B59B-FEA88779C15E}" type="slidenum">
              <a:rPr lang="en-AE" smtClean="0"/>
              <a:t>5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949297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number of repetitions is determined by the sequence.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DE79F0-4AF6-0E47-B59B-FEA88779C15E}" type="slidenum">
              <a:rPr lang="en-AE" smtClean="0"/>
              <a:t>9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22225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print without a newline, use </a:t>
            </a:r>
            <a:r>
              <a:rPr lang="en-US" dirty="0">
                <a:latin typeface="Consolas" panose="020B0609020204030204" pitchFamily="49" charset="0"/>
              </a:rPr>
              <a:t>print(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, end = ' ')</a:t>
            </a:r>
            <a:endParaRPr lang="en-SG" dirty="0"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1B843-3C41-4FA5-8E62-73AA3A98A449}" type="slidenum">
              <a:rPr lang="en-SG" smtClean="0"/>
              <a:t>18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907596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the </a:t>
            </a:r>
            <a:r>
              <a:rPr lang="en-SG" i="1" dirty="0"/>
              <a:t>loop variable</a:t>
            </a:r>
            <a:r>
              <a:rPr lang="en-SG" dirty="0"/>
              <a:t> </a:t>
            </a:r>
            <a:r>
              <a:rPr lang="en-SG" dirty="0" err="1">
                <a:solidFill>
                  <a:srgbClr val="0070C0"/>
                </a:solidFill>
                <a:latin typeface="Consolas" panose="020B0609020204030204" pitchFamily="49" charset="0"/>
              </a:rPr>
              <a:t>i</a:t>
            </a:r>
            <a:r>
              <a:rPr lang="en-SG" dirty="0"/>
              <a:t> is being </a:t>
            </a:r>
            <a:r>
              <a:rPr lang="en-SG" b="1" dirty="0"/>
              <a:t>summed</a:t>
            </a:r>
            <a:r>
              <a:rPr lang="en-SG" dirty="0"/>
              <a:t> at each repetition to solve the problem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DE79F0-4AF6-0E47-B59B-FEA88779C15E}" type="slidenum">
              <a:rPr lang="en-AE" smtClean="0"/>
              <a:t>19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7273484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Lecturers can/</a:t>
            </a:r>
            <a:r>
              <a:rPr lang="en-US" dirty="0" err="1"/>
              <a:t>shld</a:t>
            </a:r>
            <a:r>
              <a:rPr lang="en-US" dirty="0"/>
              <a:t> also use the IDE debugger to demonstrate the execution of the program and the changing values of variables. </a:t>
            </a:r>
            <a:endParaRPr lang="en-SG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DE79F0-4AF6-0E47-B59B-FEA88779C15E}" type="slidenum">
              <a:rPr lang="en-AE" smtClean="0"/>
              <a:t>20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398556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Lecturers can/</a:t>
            </a:r>
            <a:r>
              <a:rPr lang="en-US" dirty="0" err="1"/>
              <a:t>shld</a:t>
            </a:r>
            <a:r>
              <a:rPr lang="en-US" dirty="0"/>
              <a:t> also use the IDE debugger to demonstrate the execution of the program and the changing values of variables. </a:t>
            </a:r>
            <a:endParaRPr lang="en-SG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DE79F0-4AF6-0E47-B59B-FEA88779C15E}" type="slidenum">
              <a:rPr lang="en-AE" smtClean="0"/>
              <a:t>22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448876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0 1 2 3 4 5 6  7 8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DE79F0-4AF6-0E47-B59B-FEA88779C15E}" type="slidenum">
              <a:rPr lang="en-AE" smtClean="0"/>
              <a:t>25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8918215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Elaborate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DE79F0-4AF6-0E47-B59B-FEA88779C15E}" type="slidenum">
              <a:rPr kumimoji="0" lang="en-A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A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87473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DE79F0-4AF6-0E47-B59B-FEA88779C15E}" type="slidenum">
              <a:rPr kumimoji="0" lang="en-A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A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38510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DE79F0-4AF6-0E47-B59B-FEA88779C15E}" type="slidenum">
              <a:rPr kumimoji="0" lang="en-A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A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69708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CA80A-BD74-1DDF-00E7-6CBD1C950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63A519-31EA-549C-A30D-D10115224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2F97D8-FDD4-A4D9-1FD2-9086DE584E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Students Notes:</a:t>
            </a:r>
          </a:p>
          <a:p>
            <a:pPr>
              <a:lnSpc>
                <a:spcPct val="90000"/>
              </a:lnSpc>
            </a:pPr>
            <a:r>
              <a:rPr lang="en-US" sz="1500" b="1" dirty="0"/>
              <a:t>Scoring Rubric:</a:t>
            </a:r>
          </a:p>
          <a:p>
            <a:pPr lvl="1">
              <a:lnSpc>
                <a:spcPct val="90000"/>
              </a:lnSpc>
            </a:pPr>
            <a:r>
              <a:rPr lang="en-US" sz="1500" b="1" dirty="0"/>
              <a:t>0-2 points</a:t>
            </a:r>
            <a:r>
              <a:rPr lang="en-US" sz="1500" dirty="0"/>
              <a:t>: Review the key concepts and examples provided in the lecture.</a:t>
            </a:r>
          </a:p>
          <a:p>
            <a:pPr lvl="1">
              <a:lnSpc>
                <a:spcPct val="90000"/>
              </a:lnSpc>
            </a:pPr>
            <a:r>
              <a:rPr lang="en-US" sz="1500" b="1" dirty="0"/>
              <a:t>3-4 points</a:t>
            </a:r>
            <a:r>
              <a:rPr lang="en-US" sz="1500" dirty="0"/>
              <a:t>: Good understanding, but practice more coding exercises.</a:t>
            </a:r>
          </a:p>
          <a:p>
            <a:pPr lvl="1">
              <a:lnSpc>
                <a:spcPct val="90000"/>
              </a:lnSpc>
            </a:pPr>
            <a:r>
              <a:rPr lang="en-US" sz="1500" b="1" dirty="0"/>
              <a:t>5 points</a:t>
            </a:r>
            <a:r>
              <a:rPr lang="en-US" sz="1500" dirty="0"/>
              <a:t>: Excellent! You're ready to c</a:t>
            </a:r>
            <a:r>
              <a:rPr lang="en-US" sz="1600" dirty="0"/>
              <a:t>onfidently use dictionaries in solving real-world programming problems.</a:t>
            </a:r>
            <a:endParaRPr lang="en-US" sz="15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3FA5C-2C84-180D-4CC1-398DB22336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DE79F0-4AF6-0E47-B59B-FEA88779C15E}" type="slidenum">
              <a:rPr kumimoji="0" lang="en-A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A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48990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3"/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019CB1-8BB0-417F-AED7-4A53C70D32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78096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Instructor Notes:</a:t>
            </a:r>
          </a:p>
          <a:p>
            <a:endParaRPr lang="en-US">
              <a:cs typeface="Calibri"/>
            </a:endParaRPr>
          </a:p>
          <a:p>
            <a:r>
              <a:rPr lang="en-US">
                <a:cs typeface="Calibri"/>
              </a:rPr>
              <a:t>Student Notes: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DE79F0-4AF6-0E47-B59B-FEA88779C15E}" type="slidenum">
              <a:rPr lang="en-AE" smtClean="0"/>
              <a:t>31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779299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11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865943"/>
            <a:ext cx="11262866" cy="2524621"/>
          </a:xfrm>
          <a:prstGeom prst="rect">
            <a:avLst/>
          </a:prstGeom>
          <a:solidFill>
            <a:srgbClr val="002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761212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rgbClr val="00218A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3236226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F34E7DD-7B98-B143-B2D7-981C02EB6724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A picture containing text, device, meter, gauge&#10;&#10;Description automatically generated">
            <a:extLst>
              <a:ext uri="{FF2B5EF4-FFF2-40B4-BE49-F238E27FC236}">
                <a16:creationId xmlns:a16="http://schemas.microsoft.com/office/drawing/2014/main" id="{85973AE3-A1F3-9E38-FE11-7CD7195C17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18685" y="496432"/>
            <a:ext cx="6718560" cy="1732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747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rgbClr val="002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8949C-C09C-4B45-BE84-B8A5B37D90A0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Systems Analysis and Design in a Changing World,  7th  Edition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721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002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1E609FB-48FC-7144-9A95-F426FB25BE3C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189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rgbClr val="002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77D9D-8AFB-4848-9854-8335547F2129}" type="datetime1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098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rgbClr val="002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095F1-09B5-754D-89B2-45D1B5D900EE}" type="datetime1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755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135CB-A993-974D-AEC2-316A59B3EB43}" type="datetime1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rgbClr val="002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12891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7601A-666D-2647-B29C-5BE7883D9681}" type="datetime1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Systems Analysis and Design in a Changing World,  7th  Edition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416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rgbClr val="002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1E74657-92B3-E44F-93D3-73E4B8662284}" type="datetime1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295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00218A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DB91B-D729-F041-B533-D5B828A6DC9B}" type="datetime1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751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rgbClr val="002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FB2CD-6CAE-BE4B-A70B-ADF10CD04167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Systems Analysis and Design in a Changing World,  7th  Edition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708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rgbClr val="0021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12AF721-8A8A-914B-B1F1-3622BBA5F5DD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r>
              <a:rPr lang="en-US"/>
              <a:t>Systems Analysis and Design in a Changing World,  7th  Edition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7291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and Title for the Presentation#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btitle 2">
            <a:extLst>
              <a:ext uri="{FF2B5EF4-FFF2-40B4-BE49-F238E27FC236}">
                <a16:creationId xmlns:a16="http://schemas.microsoft.com/office/drawing/2014/main" id="{E9241090-81F5-3947-93CB-6896CF7F94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6339" y="5106074"/>
            <a:ext cx="6971077" cy="698499"/>
          </a:xfrm>
        </p:spPr>
        <p:txBody>
          <a:bodyPr>
            <a:noAutofit/>
          </a:bodyPr>
          <a:lstStyle>
            <a:lvl1pPr marL="0" indent="0" algn="l">
              <a:buNone/>
              <a:defRPr sz="2000">
                <a:solidFill>
                  <a:schemeClr val="accent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06DB1578-413F-2C4E-9D70-BBE3D7A5DB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339" y="3607860"/>
            <a:ext cx="5298020" cy="1498214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B5CCC4E-CABB-0A42-9BDE-60480B081EF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58490" y="1061074"/>
            <a:ext cx="3362305" cy="77386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A731196-02F0-084E-A879-3A3165CDCFD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0" y="645922"/>
            <a:ext cx="2645701" cy="315139"/>
          </a:xfrm>
          <a:prstGeom prst="rect">
            <a:avLst/>
          </a:prstGeom>
        </p:spPr>
      </p:pic>
      <p:sp>
        <p:nvSpPr>
          <p:cNvPr id="10" name="Date Placeholder 8">
            <a:extLst>
              <a:ext uri="{FF2B5EF4-FFF2-40B4-BE49-F238E27FC236}">
                <a16:creationId xmlns:a16="http://schemas.microsoft.com/office/drawing/2014/main" id="{2CFC90AB-DF59-D34A-9818-151D5C1D9C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39" y="6029515"/>
            <a:ext cx="3138522" cy="365125"/>
          </a:xfrm>
        </p:spPr>
        <p:txBody>
          <a:bodyPr/>
          <a:lstStyle>
            <a:lvl1pPr>
              <a:defRPr sz="1500">
                <a:solidFill>
                  <a:schemeClr val="accent6">
                    <a:lumMod val="75000"/>
                    <a:lumOff val="25000"/>
                  </a:schemeClr>
                </a:solidFill>
              </a:defRPr>
            </a:lvl1pPr>
          </a:lstStyle>
          <a:p>
            <a:fld id="{9FB76777-9218-4188-BD26-CF1E318BE795}" type="datetime2">
              <a:rPr lang="en-US" smtClean="0"/>
              <a:pPr/>
              <a:t>Tuesday, October 28, 2025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7883888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vider Slides for Session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70734C94-E5A8-F84D-A000-4D877B9CC8C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57273" y="3713060"/>
            <a:ext cx="9143999" cy="1006475"/>
          </a:xfrm>
          <a:prstGeom prst="rect">
            <a:avLst/>
          </a:prstGeom>
        </p:spPr>
        <p:txBody>
          <a:bodyPr anchor="t" anchorCtr="0"/>
          <a:lstStyle>
            <a:lvl1pPr algn="l">
              <a:defRPr sz="4500" b="1">
                <a:solidFill>
                  <a:srgbClr val="00249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/>
              <a:t>Click to Session title style</a:t>
            </a: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4E4DC168-AD7A-524E-9D94-2B3F22C5AB1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88949" y="2051"/>
            <a:ext cx="236191" cy="6858000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8421EEAF-DF6B-B045-AEFE-F3CF6D659E5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0206" y="250603"/>
            <a:ext cx="313679" cy="329298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65C43E3D-0D26-234A-9592-5DAA63D1269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7263" y="2962275"/>
            <a:ext cx="8056562" cy="39528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5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Session Details</a:t>
            </a:r>
          </a:p>
        </p:txBody>
      </p:sp>
    </p:spTree>
    <p:extLst>
      <p:ext uri="{BB962C8B-B14F-4D97-AF65-F5344CB8AC3E}">
        <p14:creationId xmlns:p14="http://schemas.microsoft.com/office/powerpoint/2010/main" val="5320798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0C30162-B6ED-7641-A0EB-BA573B76DA6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3258981"/>
            <a:ext cx="12192000" cy="100647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ctr">
              <a:defRPr sz="7200" b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/>
              <a:t>Thank You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698337F-7DD8-7B42-AE9F-1C15A834B6E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32578" y="1380677"/>
            <a:ext cx="4126844" cy="949829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A15B8D55-1D7F-D740-8AB9-DB23116BE410}"/>
              </a:ext>
            </a:extLst>
          </p:cNvPr>
          <p:cNvGrpSpPr/>
          <p:nvPr userDrawn="1"/>
        </p:nvGrpSpPr>
        <p:grpSpPr>
          <a:xfrm>
            <a:off x="1963849" y="5952904"/>
            <a:ext cx="8456037" cy="400326"/>
            <a:chOff x="1896939" y="5952904"/>
            <a:chExt cx="8456037" cy="400326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B799641-4B53-2B4F-86DB-18C35E61614E}"/>
                </a:ext>
              </a:extLst>
            </p:cNvPr>
            <p:cNvSpPr txBox="1"/>
            <p:nvPr userDrawn="1"/>
          </p:nvSpPr>
          <p:spPr>
            <a:xfrm>
              <a:off x="2188374" y="5964056"/>
              <a:ext cx="2659052" cy="3530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ts val="2300"/>
                </a:lnSpc>
              </a:pPr>
              <a:r>
                <a:rPr lang="en-US" sz="1500" b="1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800 </a:t>
              </a:r>
              <a:r>
                <a:rPr lang="en-US" sz="1500" b="1" err="1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MyHCT</a:t>
              </a:r>
              <a:r>
                <a:rPr lang="en-US" sz="1500" b="1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(800 69428)</a:t>
              </a:r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2334549F-B791-094D-904B-02DFE9589DA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5002299" y="6003908"/>
              <a:ext cx="273124" cy="273124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B95E0A5D-6B5A-574A-952B-5CCC36F424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1896939" y="6065869"/>
              <a:ext cx="276096" cy="184064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2A00D36-E1AC-D74E-998F-CC798B2ACD8B}"/>
                </a:ext>
              </a:extLst>
            </p:cNvPr>
            <p:cNvSpPr txBox="1"/>
            <p:nvPr userDrawn="1"/>
          </p:nvSpPr>
          <p:spPr>
            <a:xfrm>
              <a:off x="5293734" y="5952904"/>
              <a:ext cx="2659052" cy="3530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ts val="2300"/>
                </a:lnSpc>
              </a:pPr>
              <a:r>
                <a:rPr lang="en-US" sz="1500" b="1" err="1">
                  <a:solidFill>
                    <a:schemeClr val="bg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www.hct.ac.ae</a:t>
              </a:r>
              <a:endParaRPr lang="en-US" sz="1500" b="1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BCEE45B5-14AA-FB49-B39F-4EEAEEE083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191430" y="5976856"/>
              <a:ext cx="3161546" cy="3763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51355584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  Option#1 with Ima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26908BEE-A825-DA40-9969-1B02C84DEF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4800" y="1207003"/>
            <a:ext cx="5874026" cy="557061"/>
          </a:xfrm>
        </p:spPr>
        <p:txBody>
          <a:bodyPr anchor="t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6746524-6D09-2F49-8A69-4823C3DCCD2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0087" y="189062"/>
            <a:ext cx="6120159" cy="315424"/>
          </a:xfrm>
        </p:spPr>
        <p:txBody>
          <a:bodyPr>
            <a:noAutofit/>
          </a:bodyPr>
          <a:lstStyle>
            <a:lvl1pPr marL="0" indent="0" algn="r">
              <a:buNone/>
              <a:defRPr sz="1400" baseline="0">
                <a:solidFill>
                  <a:schemeClr val="accent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LO3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FED15-3BC1-9A47-85CA-5740A1734EB2}"/>
              </a:ext>
            </a:extLst>
          </p:cNvPr>
          <p:cNvSpPr txBox="1">
            <a:spLocks/>
          </p:cNvSpPr>
          <p:nvPr userDrawn="1"/>
        </p:nvSpPr>
        <p:spPr>
          <a:xfrm>
            <a:off x="11377612" y="248602"/>
            <a:ext cx="814388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600" b="0" i="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1C39B3-71BA-C04A-8F90-02179B3D98C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893B466-AD85-BF49-A335-E853DA6FB0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01500" y="306705"/>
            <a:ext cx="177800" cy="2489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35B54686-6941-2541-B096-11C08B1BDEA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88949" y="2051"/>
            <a:ext cx="236191" cy="6858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8808B5C-1859-104A-826C-D3A463154C6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0206" y="250603"/>
            <a:ext cx="313679" cy="329298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03E28E-79CD-8A43-B374-EF35B43959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3439" y="1878013"/>
            <a:ext cx="5745388" cy="37544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3E722FE-E668-314D-A8DF-BAA81BA98D5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58486" y="1206500"/>
            <a:ext cx="4619127" cy="4445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826181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AED3C8-AFC5-2641-93AB-8698C85DF05C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r>
              <a:rPr lang="en-US"/>
              <a:t>Systems Analysis and Design in a Changing World,  7th  Edition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409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7" r:id="rId1"/>
    <p:sldLayoutId id="2147483948" r:id="rId2"/>
    <p:sldLayoutId id="2147483949" r:id="rId3"/>
    <p:sldLayoutId id="2147483950" r:id="rId4"/>
    <p:sldLayoutId id="2147483951" r:id="rId5"/>
    <p:sldLayoutId id="2147483952" r:id="rId6"/>
    <p:sldLayoutId id="2147483953" r:id="rId7"/>
    <p:sldLayoutId id="2147483954" r:id="rId8"/>
    <p:sldLayoutId id="2147483955" r:id="rId9"/>
    <p:sldLayoutId id="2147483956" r:id="rId10"/>
    <p:sldLayoutId id="2147483957" r:id="rId11"/>
    <p:sldLayoutId id="2147483960" r:id="rId12"/>
    <p:sldLayoutId id="2147483959" r:id="rId13"/>
    <p:sldLayoutId id="2147483958" r:id="rId14"/>
    <p:sldLayoutId id="2147483961" r:id="rId1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sv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601012E-CD63-E8F9-68EF-56A675E46F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6339" y="5639474"/>
            <a:ext cx="6971077" cy="698499"/>
          </a:xfrm>
        </p:spPr>
        <p:txBody>
          <a:bodyPr/>
          <a:lstStyle/>
          <a:p>
            <a:r>
              <a:rPr lang="en-AE" dirty="0"/>
              <a:t>CLO2: </a:t>
            </a:r>
            <a:r>
              <a:rPr lang="en-US" dirty="0"/>
              <a:t>Develop programs using selection and iteration control structures to implement control flow.</a:t>
            </a:r>
            <a:endParaRPr lang="en-A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9F5D01E-B5CF-9AE2-6B30-788AEA42F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339" y="3607860"/>
            <a:ext cx="6695020" cy="1498214"/>
          </a:xfrm>
        </p:spPr>
        <p:txBody>
          <a:bodyPr>
            <a:normAutofit/>
          </a:bodyPr>
          <a:lstStyle/>
          <a:p>
            <a:r>
              <a:rPr lang="en-AE" dirty="0"/>
              <a:t>CHAPTER 4: </a:t>
            </a:r>
            <a:r>
              <a:rPr lang="en-US" dirty="0"/>
              <a:t>Iteration Control structures</a:t>
            </a:r>
            <a:endParaRPr lang="en-A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ABA918-9DA3-8F7F-B59F-62586589F38F}"/>
              </a:ext>
            </a:extLst>
          </p:cNvPr>
          <p:cNvSpPr txBox="1"/>
          <p:nvPr/>
        </p:nvSpPr>
        <p:spPr>
          <a:xfrm>
            <a:off x="533400" y="5105400"/>
            <a:ext cx="46482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cap="all" dirty="0">
                <a:solidFill>
                  <a:srgbClr val="4590B8"/>
                </a:solidFill>
              </a:rPr>
              <a:t>Part 1 - 'FOR' LOOPS IN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72475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F404549-B4DC-481C-926C-DED3EF1C5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4406"/>
            <a:ext cx="12192000" cy="62435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8FD5CD-351E-4B06-8B78-BD5102D00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6418E9-C46E-2B42-A376-BF4FA645B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55" y="702156"/>
            <a:ext cx="3409783" cy="10138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/>
              <a:t>Document Revision CONTROL (DRC)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F284468-81DA-084D-809A-E200A5AF2C97}"/>
              </a:ext>
            </a:extLst>
          </p:cNvPr>
          <p:cNvSpPr txBox="1">
            <a:spLocks/>
          </p:cNvSpPr>
          <p:nvPr/>
        </p:nvSpPr>
        <p:spPr>
          <a:xfrm>
            <a:off x="601255" y="1964168"/>
            <a:ext cx="3409782" cy="40365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400">
                <a:latin typeface="+mn-lt"/>
                <a:ea typeface="+mn-ea"/>
                <a:cs typeface="+mn-cs"/>
              </a:rPr>
              <a:t>X.Y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400">
                <a:latin typeface="+mn-lt"/>
                <a:ea typeface="+mn-ea"/>
                <a:cs typeface="+mn-cs"/>
              </a:rPr>
              <a:t>X: Major change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400">
                <a:latin typeface="+mn-lt"/>
                <a:ea typeface="+mn-ea"/>
                <a:cs typeface="+mn-cs"/>
              </a:rPr>
              <a:t>Y: minor change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1200DF-C5F3-3845-A70A-E54EE8292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00800"/>
            <a:ext cx="105250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D57F1E4F-1CFF-5643-939E-217C01CDF565}" type="slidenum">
              <a:rPr lang="en-US" smtClean="0"/>
              <a:pPr defTabSz="914400">
                <a:spcAft>
                  <a:spcPts val="600"/>
                </a:spcAft>
              </a:pPr>
              <a:t>2</a:t>
            </a:fld>
            <a:endParaRPr lang="en-US"/>
          </a:p>
        </p:txBody>
      </p:sp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509607C8-0442-02A2-B6F8-6A6E0365A7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75148228"/>
              </p:ext>
            </p:extLst>
          </p:nvPr>
        </p:nvGraphicFramePr>
        <p:xfrm>
          <a:off x="4791522" y="2271551"/>
          <a:ext cx="6489820" cy="335027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277061">
                  <a:extLst>
                    <a:ext uri="{9D8B030D-6E8A-4147-A177-3AD203B41FA5}">
                      <a16:colId xmlns:a16="http://schemas.microsoft.com/office/drawing/2014/main" val="1295955282"/>
                    </a:ext>
                  </a:extLst>
                </a:gridCol>
                <a:gridCol w="1157613">
                  <a:extLst>
                    <a:ext uri="{9D8B030D-6E8A-4147-A177-3AD203B41FA5}">
                      <a16:colId xmlns:a16="http://schemas.microsoft.com/office/drawing/2014/main" val="3385100544"/>
                    </a:ext>
                  </a:extLst>
                </a:gridCol>
                <a:gridCol w="1396508">
                  <a:extLst>
                    <a:ext uri="{9D8B030D-6E8A-4147-A177-3AD203B41FA5}">
                      <a16:colId xmlns:a16="http://schemas.microsoft.com/office/drawing/2014/main" val="1473071793"/>
                    </a:ext>
                  </a:extLst>
                </a:gridCol>
                <a:gridCol w="1710058">
                  <a:extLst>
                    <a:ext uri="{9D8B030D-6E8A-4147-A177-3AD203B41FA5}">
                      <a16:colId xmlns:a16="http://schemas.microsoft.com/office/drawing/2014/main" val="882327758"/>
                    </a:ext>
                  </a:extLst>
                </a:gridCol>
                <a:gridCol w="948580">
                  <a:extLst>
                    <a:ext uri="{9D8B030D-6E8A-4147-A177-3AD203B41FA5}">
                      <a16:colId xmlns:a16="http://schemas.microsoft.com/office/drawing/2014/main" val="2898247348"/>
                    </a:ext>
                  </a:extLst>
                </a:gridCol>
              </a:tblGrid>
              <a:tr h="793513">
                <a:tc>
                  <a:txBody>
                    <a:bodyPr/>
                    <a:lstStyle/>
                    <a:p>
                      <a:r>
                        <a:rPr lang="en-AE" sz="2100"/>
                        <a:t>Version</a:t>
                      </a:r>
                    </a:p>
                  </a:txBody>
                  <a:tcPr marL="105496" marR="105496" marT="52747" marB="52747"/>
                </a:tc>
                <a:tc>
                  <a:txBody>
                    <a:bodyPr/>
                    <a:lstStyle/>
                    <a:p>
                      <a:r>
                        <a:rPr lang="en-AE" sz="2100"/>
                        <a:t>Author</a:t>
                      </a:r>
                    </a:p>
                  </a:txBody>
                  <a:tcPr marL="105496" marR="105496" marT="52747" marB="52747"/>
                </a:tc>
                <a:tc>
                  <a:txBody>
                    <a:bodyPr/>
                    <a:lstStyle/>
                    <a:p>
                      <a:r>
                        <a:rPr lang="en-AE" sz="2100"/>
                        <a:t>Effective Date</a:t>
                      </a:r>
                    </a:p>
                  </a:txBody>
                  <a:tcPr marL="105496" marR="105496" marT="52747" marB="52747"/>
                </a:tc>
                <a:tc>
                  <a:txBody>
                    <a:bodyPr/>
                    <a:lstStyle/>
                    <a:p>
                      <a:r>
                        <a:rPr lang="en-AE" sz="2100"/>
                        <a:t>Change Description</a:t>
                      </a:r>
                    </a:p>
                  </a:txBody>
                  <a:tcPr marL="105496" marR="105496" marT="52747" marB="52747"/>
                </a:tc>
                <a:tc>
                  <a:txBody>
                    <a:bodyPr/>
                    <a:lstStyle/>
                    <a:p>
                      <a:r>
                        <a:rPr lang="en-AE" sz="2100"/>
                        <a:t>DRC No</a:t>
                      </a:r>
                    </a:p>
                  </a:txBody>
                  <a:tcPr marL="105496" marR="105496" marT="52747" marB="52747"/>
                </a:tc>
                <a:extLst>
                  <a:ext uri="{0D108BD9-81ED-4DB2-BD59-A6C34878D82A}">
                    <a16:rowId xmlns:a16="http://schemas.microsoft.com/office/drawing/2014/main" val="3868660892"/>
                  </a:ext>
                </a:extLst>
              </a:tr>
              <a:tr h="471004">
                <a:tc>
                  <a:txBody>
                    <a:bodyPr/>
                    <a:lstStyle/>
                    <a:p>
                      <a:r>
                        <a:rPr lang="en-AE" sz="2100"/>
                        <a:t>1.0</a:t>
                      </a:r>
                    </a:p>
                  </a:txBody>
                  <a:tcPr marL="105496" marR="105496" marT="52747" marB="52747"/>
                </a:tc>
                <a:tc>
                  <a:txBody>
                    <a:bodyPr/>
                    <a:lstStyle/>
                    <a:p>
                      <a:r>
                        <a:rPr lang="en-AE" sz="2100" err="1"/>
                        <a:t>Dr.</a:t>
                      </a:r>
                      <a:r>
                        <a:rPr lang="en-AE" sz="2100"/>
                        <a:t> Liew </a:t>
                      </a:r>
                      <a:r>
                        <a:rPr lang="en-AE" sz="2100" err="1"/>
                        <a:t>Keat</a:t>
                      </a:r>
                      <a:endParaRPr lang="en-AE" sz="2100"/>
                    </a:p>
                  </a:txBody>
                  <a:tcPr marL="105496" marR="105496" marT="52747" marB="52747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2100" dirty="0"/>
                        <a:t>May 2024</a:t>
                      </a:r>
                    </a:p>
                  </a:txBody>
                  <a:tcPr marL="105496" marR="105496" marT="52747" marB="52747"/>
                </a:tc>
                <a:tc>
                  <a:txBody>
                    <a:bodyPr/>
                    <a:lstStyle/>
                    <a:p>
                      <a:r>
                        <a:rPr lang="en-AE" sz="2100" dirty="0"/>
                        <a:t>Provided Resources</a:t>
                      </a:r>
                    </a:p>
                  </a:txBody>
                  <a:tcPr marL="105496" marR="105496" marT="52747" marB="52747"/>
                </a:tc>
                <a:tc>
                  <a:txBody>
                    <a:bodyPr/>
                    <a:lstStyle/>
                    <a:p>
                      <a:r>
                        <a:rPr lang="en-AE" sz="2100" dirty="0"/>
                        <a:t>1.0</a:t>
                      </a:r>
                    </a:p>
                  </a:txBody>
                  <a:tcPr marL="105496" marR="105496" marT="52747" marB="52747"/>
                </a:tc>
                <a:extLst>
                  <a:ext uri="{0D108BD9-81ED-4DB2-BD59-A6C34878D82A}">
                    <a16:rowId xmlns:a16="http://schemas.microsoft.com/office/drawing/2014/main" val="4250486875"/>
                  </a:ext>
                </a:extLst>
              </a:tr>
              <a:tr h="535506">
                <a:tc>
                  <a:txBody>
                    <a:bodyPr/>
                    <a:lstStyle/>
                    <a:p>
                      <a:r>
                        <a:rPr lang="en-AE" sz="2100" dirty="0"/>
                        <a:t>2.0</a:t>
                      </a:r>
                    </a:p>
                  </a:txBody>
                  <a:tcPr marL="105496" marR="105496" marT="52747" marB="52747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2100" dirty="0"/>
                        <a:t>Jumana Tarazi</a:t>
                      </a:r>
                    </a:p>
                  </a:txBody>
                  <a:tcPr marL="105496" marR="105496" marT="52747" marB="52747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2100" dirty="0"/>
                        <a:t>June 2024</a:t>
                      </a:r>
                    </a:p>
                  </a:txBody>
                  <a:tcPr marL="105496" marR="105496" marT="52747" marB="52747"/>
                </a:tc>
                <a:tc>
                  <a:txBody>
                    <a:bodyPr/>
                    <a:lstStyle/>
                    <a:p>
                      <a:r>
                        <a:rPr lang="en-AE" sz="2100" dirty="0"/>
                        <a:t>Developed the first version</a:t>
                      </a:r>
                    </a:p>
                  </a:txBody>
                  <a:tcPr marL="105496" marR="105496" marT="52747" marB="52747"/>
                </a:tc>
                <a:tc>
                  <a:txBody>
                    <a:bodyPr/>
                    <a:lstStyle/>
                    <a:p>
                      <a:r>
                        <a:rPr lang="en-AE" sz="2100"/>
                        <a:t>1.0</a:t>
                      </a:r>
                    </a:p>
                  </a:txBody>
                  <a:tcPr marL="105496" marR="105496" marT="52747" marB="52747"/>
                </a:tc>
                <a:extLst>
                  <a:ext uri="{0D108BD9-81ED-4DB2-BD59-A6C34878D82A}">
                    <a16:rowId xmlns:a16="http://schemas.microsoft.com/office/drawing/2014/main" val="1697361508"/>
                  </a:ext>
                </a:extLst>
              </a:tr>
              <a:tr h="535506">
                <a:tc>
                  <a:txBody>
                    <a:bodyPr/>
                    <a:lstStyle/>
                    <a:p>
                      <a:r>
                        <a:rPr lang="en-AE" sz="2100"/>
                        <a:t>2.1</a:t>
                      </a:r>
                    </a:p>
                  </a:txBody>
                  <a:tcPr marL="105496" marR="105496" marT="52747" marB="52747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2100"/>
                        <a:t>Jumana Tarazi</a:t>
                      </a:r>
                    </a:p>
                  </a:txBody>
                  <a:tcPr marL="105496" marR="105496" marT="52747" marB="52747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E" sz="2100" dirty="0"/>
                        <a:t>August 2024</a:t>
                      </a:r>
                    </a:p>
                  </a:txBody>
                  <a:tcPr marL="105496" marR="105496" marT="52747" marB="52747"/>
                </a:tc>
                <a:tc>
                  <a:txBody>
                    <a:bodyPr/>
                    <a:lstStyle/>
                    <a:p>
                      <a:r>
                        <a:rPr lang="en-AE" sz="2100"/>
                        <a:t>Reviewed the slides</a:t>
                      </a:r>
                    </a:p>
                  </a:txBody>
                  <a:tcPr marL="105496" marR="105496" marT="52747" marB="52747"/>
                </a:tc>
                <a:tc>
                  <a:txBody>
                    <a:bodyPr/>
                    <a:lstStyle/>
                    <a:p>
                      <a:r>
                        <a:rPr lang="en-AE" sz="2100" dirty="0"/>
                        <a:t>1.0</a:t>
                      </a:r>
                    </a:p>
                  </a:txBody>
                  <a:tcPr marL="105496" marR="105496" marT="52747" marB="52747"/>
                </a:tc>
                <a:extLst>
                  <a:ext uri="{0D108BD9-81ED-4DB2-BD59-A6C34878D82A}">
                    <a16:rowId xmlns:a16="http://schemas.microsoft.com/office/drawing/2014/main" val="2212204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8906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D5B7A-E0E0-AD43-A51C-6ACC00A76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E"/>
              <a:t>Lecture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55978-10EF-4045-A6AA-B3396C2EF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E" dirty="0"/>
              <a:t>Contents of lectures are based on the textbook, recommended text, and supplementary material.</a:t>
            </a:r>
          </a:p>
          <a:p>
            <a:pPr lvl="1"/>
            <a:r>
              <a:rPr lang="en-AE" dirty="0"/>
              <a:t>Please read </a:t>
            </a:r>
            <a:r>
              <a:rPr lang="en-US" dirty="0"/>
              <a:t>C</a:t>
            </a:r>
            <a:r>
              <a:rPr lang="en-AE" dirty="0" err="1"/>
              <a:t>hapter</a:t>
            </a:r>
            <a:r>
              <a:rPr lang="en-AE" dirty="0"/>
              <a:t> 3 of the e-textbook: </a:t>
            </a:r>
            <a:r>
              <a:rPr lang="en-AE" i="1" dirty="0"/>
              <a:t>How to Think Like a Computer Scientist </a:t>
            </a:r>
            <a:r>
              <a:rPr lang="en-AE" dirty="0"/>
              <a:t>from page 41 </a:t>
            </a:r>
            <a:r>
              <a:rPr lang="en-US" dirty="0"/>
              <a:t>t</a:t>
            </a:r>
            <a:r>
              <a:rPr lang="en-AE" dirty="0"/>
              <a:t>o page 60.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D16B00-D869-5443-A993-3A1CBE724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637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B4C527F-AA88-4BD2-819A-06921EEB4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1363"/>
            <a:ext cx="12191999" cy="62566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1BEFAC-BF22-4CF8-9B60-C1CACA905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3DD40B-A7E5-5946-80C7-87DE42F2E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9643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AE" dirty="0">
                <a:solidFill>
                  <a:srgbClr val="FFFEFF"/>
                </a:solidFill>
              </a:rPr>
              <a:t>LECTURE OUTLINE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83BE51-CA13-1A46-9F1F-CC5A1A48B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57F1E4F-1CFF-5643-939E-217C01CDF565}" type="slidenum">
              <a:rPr lang="en-US">
                <a:solidFill>
                  <a:schemeClr val="accent1">
                    <a:lumMod val="75000"/>
                    <a:lumOff val="25000"/>
                  </a:schemeClr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chemeClr val="accent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DC1FD7DD-5F10-447C-805A-74ED1A6DDF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8139630"/>
              </p:ext>
            </p:extLst>
          </p:nvPr>
        </p:nvGraphicFramePr>
        <p:xfrm>
          <a:off x="486033" y="1037967"/>
          <a:ext cx="7012370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138439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C334E-F60E-E003-F89B-44C070CB4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EFF"/>
                </a:solidFill>
              </a:rPr>
              <a:t>Overview of iteration Control structures (Loops)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DD2952-F013-74EE-4BD0-F0A1A8965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57F1E4F-1CFF-5643-939E-217C01CDF565}" type="slidenum">
              <a:rPr lang="en-US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1B6FE5BC-2DC3-FC57-D0F8-9AF37077DC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2697031"/>
              </p:ext>
            </p:extLst>
          </p:nvPr>
        </p:nvGraphicFramePr>
        <p:xfrm>
          <a:off x="581025" y="2181225"/>
          <a:ext cx="11029950" cy="3678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01654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A79CE-B9CF-083B-BA15-DF0CC1213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 dirty="0"/>
              <a:t>Why do we need Loops?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E9758B-E361-4084-8D9F-729FA6C4A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2180496"/>
            <a:ext cx="5404639" cy="4045683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8B5D1-2998-E394-149B-9F2336D59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5805" y="2180496"/>
            <a:ext cx="5275001" cy="4045683"/>
          </a:xfrm>
        </p:spPr>
        <p:txBody>
          <a:bodyPr>
            <a:normAutofit/>
          </a:bodyPr>
          <a:lstStyle/>
          <a:p>
            <a:r>
              <a:rPr lang="en-US" dirty="0"/>
              <a:t>Suppose you want to print the message "Hello, World!" to the screen </a:t>
            </a:r>
            <a:r>
              <a:rPr lang="en-US" b="1" dirty="0">
                <a:solidFill>
                  <a:srgbClr val="7030A0"/>
                </a:solidFill>
              </a:rPr>
              <a:t>5</a:t>
            </a:r>
            <a:r>
              <a:rPr lang="en-US" dirty="0"/>
              <a:t> times</a:t>
            </a:r>
          </a:p>
          <a:p>
            <a:r>
              <a:rPr lang="en-US" dirty="0"/>
              <a:t>Without a loop, you would need to write the </a:t>
            </a:r>
            <a:r>
              <a:rPr lang="en-US" b="1" dirty="0"/>
              <a:t>print</a:t>
            </a:r>
            <a:r>
              <a:rPr lang="en-US" dirty="0"/>
              <a:t> statement 5 times manually.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7030A0"/>
                </a:solidFill>
              </a:rPr>
              <a:t>Notice the code is repetitive!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E7025F-3ABA-2AB5-7ECA-08F2DBA2D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00800"/>
            <a:ext cx="105250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57F1E4F-1CFF-5643-939E-217C01CDF565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D5EB45-D8EC-01F0-AD8E-C88C9B490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545" y="3095839"/>
            <a:ext cx="4030945" cy="2173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524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A79CE-B9CF-083B-BA15-DF0CC1213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 dirty="0"/>
              <a:t>Why do we need Loops?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E9758B-E361-4084-8D9F-729FA6C4A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2180496"/>
            <a:ext cx="5404639" cy="4045683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E0FB04-4363-D7B0-33AE-22D49381E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2576846"/>
            <a:ext cx="4962525" cy="321763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8B5D1-2998-E394-149B-9F2336D59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5805" y="2180496"/>
            <a:ext cx="5275001" cy="4045683"/>
          </a:xfrm>
        </p:spPr>
        <p:txBody>
          <a:bodyPr>
            <a:normAutofit/>
          </a:bodyPr>
          <a:lstStyle/>
          <a:p>
            <a:r>
              <a:rPr lang="en-US" dirty="0"/>
              <a:t>With a loop, you can achieve the same result with much less code.</a:t>
            </a:r>
          </a:p>
          <a:p>
            <a:r>
              <a:rPr lang="en-US" dirty="0"/>
              <a:t>You would write a </a:t>
            </a:r>
            <a:r>
              <a:rPr lang="en-US" b="1" dirty="0"/>
              <a:t>loop</a:t>
            </a:r>
            <a:r>
              <a:rPr lang="en-US" dirty="0"/>
              <a:t> that </a:t>
            </a:r>
            <a:r>
              <a:rPr lang="en-US" b="1" dirty="0"/>
              <a:t>iterates</a:t>
            </a:r>
            <a:r>
              <a:rPr lang="en-US" dirty="0"/>
              <a:t> 5 times, printing "Hello, World!" to the screen during each iteration.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7030A0"/>
                </a:solidFill>
              </a:rPr>
              <a:t>Notice that in the given example, the print statement is written once, and it is repeated 5 times</a:t>
            </a:r>
            <a:r>
              <a:rPr lang="en-US" dirty="0"/>
              <a:t>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E7025F-3ABA-2AB5-7ECA-08F2DBA2D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00800"/>
            <a:ext cx="105250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57F1E4F-1CFF-5643-939E-217C01CDF565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720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C91DC-01A7-2712-4725-1BD1B13E1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 dirty="0"/>
              <a:t>Types of Iterations (Loops) in Python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E22090-20B0-4E64-847E-6DE402F70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2180496"/>
            <a:ext cx="3703320" cy="4045683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Workflow">
            <a:extLst>
              <a:ext uri="{FF2B5EF4-FFF2-40B4-BE49-F238E27FC236}">
                <a16:creationId xmlns:a16="http://schemas.microsoft.com/office/drawing/2014/main" id="{367BC771-075F-2D15-3EC1-2F8507284D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7225" y="2533078"/>
            <a:ext cx="3305175" cy="33051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150FD-D21F-7865-69D9-E7025025A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5325" y="2180496"/>
            <a:ext cx="7105481" cy="4045683"/>
          </a:xfrm>
        </p:spPr>
        <p:txBody>
          <a:bodyPr>
            <a:normAutofit/>
          </a:bodyPr>
          <a:lstStyle/>
          <a:p>
            <a:r>
              <a:rPr lang="en-US" dirty="0"/>
              <a:t>Python primarily uses two types of loops: </a:t>
            </a:r>
            <a:r>
              <a:rPr lang="en-US" b="1" dirty="0">
                <a:solidFill>
                  <a:srgbClr val="0070C0"/>
                </a:solidFill>
              </a:rPr>
              <a:t>'for</a:t>
            </a:r>
            <a:r>
              <a:rPr lang="en-US" dirty="0"/>
              <a:t>' loops and </a:t>
            </a:r>
            <a:r>
              <a:rPr lang="en-US" b="1" dirty="0">
                <a:solidFill>
                  <a:srgbClr val="0070C0"/>
                </a:solidFill>
              </a:rPr>
              <a:t>'while</a:t>
            </a:r>
            <a:r>
              <a:rPr lang="en-US" dirty="0"/>
              <a:t>’ loops.</a:t>
            </a:r>
          </a:p>
          <a:p>
            <a:r>
              <a:rPr lang="en-US" dirty="0"/>
              <a:t>Each type of loop has its specific uses and syntax.</a:t>
            </a:r>
          </a:p>
          <a:p>
            <a:r>
              <a:rPr lang="en-US" b="1" dirty="0">
                <a:solidFill>
                  <a:srgbClr val="0070C0"/>
                </a:solidFill>
              </a:rPr>
              <a:t>'for</a:t>
            </a:r>
            <a:r>
              <a:rPr lang="en-US" dirty="0"/>
              <a:t>' loops are used for iterating over a sequence (like a list).</a:t>
            </a:r>
          </a:p>
          <a:p>
            <a:r>
              <a:rPr lang="en-US" b="1" dirty="0">
                <a:solidFill>
                  <a:srgbClr val="0070C0"/>
                </a:solidFill>
              </a:rPr>
              <a:t>'while'</a:t>
            </a:r>
            <a:r>
              <a:rPr lang="en-US" dirty="0"/>
              <a:t> loops are used to repeat a block of code as long as a condition is True.</a:t>
            </a:r>
          </a:p>
          <a:p>
            <a:pPr lvl="1"/>
            <a:r>
              <a:rPr lang="en-US" dirty="0"/>
              <a:t>We will explore ‘while' loops in the next lesson.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9063D0-C1D6-AB47-41BC-612CEFBE6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00800"/>
            <a:ext cx="105250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57F1E4F-1CFF-5643-939E-217C01CDF565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349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B754D-AAD5-B0F4-F976-A8E779DA0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and Syntax of 'for'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357CF-4ACD-2CFA-4190-130045F381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1800" dirty="0"/>
              <a:t>The </a:t>
            </a:r>
            <a:r>
              <a:rPr lang="en-US" sz="1800" b="1" i="1" dirty="0">
                <a:solidFill>
                  <a:srgbClr val="0070C0"/>
                </a:solidFill>
              </a:rPr>
              <a:t>for</a:t>
            </a:r>
            <a:r>
              <a:rPr lang="en-US" sz="1800" dirty="0"/>
              <a:t> loop in Python allows you to iterate over a </a:t>
            </a:r>
            <a:r>
              <a:rPr lang="en-US" sz="1800" b="1" dirty="0">
                <a:solidFill>
                  <a:srgbClr val="7030A0"/>
                </a:solidFill>
              </a:rPr>
              <a:t>sequence</a:t>
            </a:r>
            <a:r>
              <a:rPr lang="en-US" sz="1800" dirty="0"/>
              <a:t> of elements.</a:t>
            </a:r>
          </a:p>
          <a:p>
            <a:r>
              <a:rPr lang="en-US" sz="1800" dirty="0"/>
              <a:t>The syntax of a for loop is as follows: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282348-C506-AA59-E80C-C9E2CBE800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The Loop Control Variable</a:t>
            </a:r>
          </a:p>
          <a:p>
            <a:r>
              <a:rPr lang="en-US" dirty="0"/>
              <a:t>The variable </a:t>
            </a:r>
            <a:r>
              <a:rPr lang="en-US" b="1" dirty="0" err="1">
                <a:solidFill>
                  <a:srgbClr val="0070C0"/>
                </a:solidFill>
              </a:rPr>
              <a:t>i</a:t>
            </a:r>
            <a:r>
              <a:rPr lang="en-US" dirty="0"/>
              <a:t> is called the </a:t>
            </a:r>
            <a:r>
              <a:rPr lang="en-US" i="1" dirty="0"/>
              <a:t>loop control variable</a:t>
            </a:r>
            <a:r>
              <a:rPr lang="en-US" dirty="0"/>
              <a:t>.</a:t>
            </a:r>
          </a:p>
          <a:p>
            <a:r>
              <a:rPr lang="en-US" dirty="0"/>
              <a:t>It takes each value in the sequence one by one and keeps track of the repetition.</a:t>
            </a:r>
          </a:p>
          <a:p>
            <a:pPr marL="0" indent="0">
              <a:buNone/>
            </a:pPr>
            <a:r>
              <a:rPr lang="en-US" b="1" dirty="0"/>
              <a:t>Generating Sequences with range() </a:t>
            </a:r>
          </a:p>
          <a:p>
            <a:r>
              <a:rPr lang="en-US" dirty="0"/>
              <a:t>To generate the sequence of numbers, we can use the </a:t>
            </a:r>
            <a:r>
              <a:rPr lang="en-US" b="1" dirty="0">
                <a:solidFill>
                  <a:srgbClr val="0070C0"/>
                </a:solidFill>
              </a:rPr>
              <a:t>range</a:t>
            </a:r>
            <a:r>
              <a:rPr lang="en-US" dirty="0"/>
              <a:t>() function (next slide).</a:t>
            </a:r>
          </a:p>
          <a:p>
            <a:r>
              <a:rPr lang="en-US" dirty="0"/>
              <a:t>The block of code that </a:t>
            </a:r>
            <a:r>
              <a:rPr lang="en-US" i="1" u="sng" dirty="0"/>
              <a:t>repeats</a:t>
            </a:r>
            <a:r>
              <a:rPr lang="en-US" dirty="0"/>
              <a:t> has to be </a:t>
            </a:r>
            <a:r>
              <a:rPr lang="en-US" i="1" u="sng" dirty="0"/>
              <a:t>indented</a:t>
            </a:r>
            <a:r>
              <a:rPr lang="en-US" dirty="0"/>
              <a:t>,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338087-5B49-67D5-7124-DAB4EA436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3D080D-57B3-60BA-6914-83FD76718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6378" y="4628472"/>
            <a:ext cx="2939748" cy="785739"/>
          </a:xfrm>
          <a:prstGeom prst="rect">
            <a:avLst/>
          </a:prstGeom>
          <a:ln>
            <a:solidFill>
              <a:srgbClr val="002EB0"/>
            </a:solidFill>
          </a:ln>
        </p:spPr>
      </p:pic>
    </p:spTree>
    <p:extLst>
      <p:ext uri="{BB962C8B-B14F-4D97-AF65-F5344CB8AC3E}">
        <p14:creationId xmlns:p14="http://schemas.microsoft.com/office/powerpoint/2010/main" val="618549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B754D-AAD5-B0F4-F976-A8E779DA0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for loops with range()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357CF-4ACD-2CFA-4190-130045F381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4" y="2228003"/>
            <a:ext cx="5422390" cy="3633047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The </a:t>
            </a:r>
            <a:r>
              <a:rPr lang="en-US" b="1" dirty="0">
                <a:solidFill>
                  <a:srgbClr val="0070C0"/>
                </a:solidFill>
              </a:rPr>
              <a:t>range</a:t>
            </a:r>
            <a:r>
              <a:rPr lang="en-US" dirty="0"/>
              <a:t>() function generates a sequence of numbers. </a:t>
            </a:r>
          </a:p>
          <a:p>
            <a:pPr>
              <a:lnSpc>
                <a:spcPct val="90000"/>
              </a:lnSpc>
            </a:pPr>
            <a:r>
              <a:rPr lang="en-US" i="1" dirty="0"/>
              <a:t>Useful when you want to repeat an action a specific number of times</a:t>
            </a:r>
            <a:r>
              <a:rPr lang="en-US" dirty="0"/>
              <a:t>.</a:t>
            </a:r>
          </a:p>
          <a:p>
            <a:pPr>
              <a:lnSpc>
                <a:spcPct val="90000"/>
              </a:lnSpc>
            </a:pPr>
            <a:r>
              <a:rPr lang="en-US" dirty="0"/>
              <a:t>Syntax of for loop with range():  </a:t>
            </a:r>
          </a:p>
          <a:p>
            <a:pPr>
              <a:lnSpc>
                <a:spcPct val="90000"/>
              </a:lnSpc>
            </a:pP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282348-C506-AA59-E80C-C9E2CBE800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dirty="0">
                <a:solidFill>
                  <a:srgbClr val="7030A0"/>
                </a:solidFill>
              </a:rPr>
              <a:t>The </a:t>
            </a:r>
            <a:r>
              <a:rPr lang="en-US" b="1" dirty="0">
                <a:solidFill>
                  <a:srgbClr val="7030A0"/>
                </a:solidFill>
              </a:rPr>
              <a:t>range</a:t>
            </a:r>
            <a:r>
              <a:rPr lang="en-US" dirty="0">
                <a:solidFill>
                  <a:srgbClr val="7030A0"/>
                </a:solidFill>
              </a:rPr>
              <a:t>() function generates numbers from </a:t>
            </a:r>
            <a:r>
              <a:rPr lang="en-US" dirty="0">
                <a:solidFill>
                  <a:srgbClr val="00B0F0"/>
                </a:solidFill>
              </a:rPr>
              <a:t>start to stop - 1</a:t>
            </a:r>
            <a:r>
              <a:rPr lang="en-US" dirty="0">
                <a:solidFill>
                  <a:srgbClr val="7030A0"/>
                </a:solidFill>
              </a:rPr>
              <a:t>, incrementing by step. 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0070C0"/>
                </a:solidFill>
              </a:rPr>
              <a:t>start</a:t>
            </a:r>
            <a:r>
              <a:rPr lang="en-US" dirty="0"/>
              <a:t>: Starting value of the range. Start is </a:t>
            </a:r>
            <a:r>
              <a:rPr lang="en-US" b="1" dirty="0">
                <a:solidFill>
                  <a:srgbClr val="7030A0"/>
                </a:solidFill>
              </a:rPr>
              <a:t>optional</a:t>
            </a:r>
            <a:r>
              <a:rPr lang="en-US" dirty="0"/>
              <a:t> and </a:t>
            </a:r>
            <a:r>
              <a:rPr lang="en-US" b="1" dirty="0">
                <a:solidFill>
                  <a:srgbClr val="7030A0"/>
                </a:solidFill>
              </a:rPr>
              <a:t>default</a:t>
            </a:r>
            <a:r>
              <a:rPr lang="en-US" dirty="0"/>
              <a:t> value if omitted is </a:t>
            </a:r>
            <a:r>
              <a:rPr lang="en-US" b="1" dirty="0">
                <a:solidFill>
                  <a:srgbClr val="7030A0"/>
                </a:solidFill>
              </a:rPr>
              <a:t>0</a:t>
            </a:r>
            <a:r>
              <a:rPr lang="en-US" dirty="0"/>
              <a:t>.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0070C0"/>
                </a:solidFill>
              </a:rPr>
              <a:t>stop</a:t>
            </a:r>
            <a:r>
              <a:rPr lang="en-US" dirty="0"/>
              <a:t>: The end value of the range.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0070C0"/>
                </a:solidFill>
              </a:rPr>
              <a:t>step</a:t>
            </a:r>
            <a:r>
              <a:rPr lang="en-US" dirty="0"/>
              <a:t>: The amount by which the variable is incremented. Step is </a:t>
            </a:r>
            <a:r>
              <a:rPr lang="en-US" b="1" dirty="0">
                <a:solidFill>
                  <a:srgbClr val="7030A0"/>
                </a:solidFill>
              </a:rPr>
              <a:t>optional</a:t>
            </a:r>
            <a:r>
              <a:rPr lang="en-US" dirty="0"/>
              <a:t> and </a:t>
            </a:r>
            <a:r>
              <a:rPr lang="en-US" b="1" dirty="0">
                <a:solidFill>
                  <a:srgbClr val="7030A0"/>
                </a:solidFill>
              </a:rPr>
              <a:t>default</a:t>
            </a:r>
            <a:r>
              <a:rPr lang="en-US" dirty="0"/>
              <a:t> value if omitted is </a:t>
            </a:r>
            <a:r>
              <a:rPr lang="en-US" b="1" dirty="0">
                <a:solidFill>
                  <a:srgbClr val="7030A0"/>
                </a:solidFill>
              </a:rPr>
              <a:t>1</a:t>
            </a:r>
            <a:r>
              <a:rPr lang="en-US" dirty="0"/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338087-5B49-67D5-7124-DAB4EA436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EEF715-C717-2EF4-652C-775430F0A1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777" y="4760411"/>
            <a:ext cx="3743551" cy="633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674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9624C-DD3D-622F-1B6C-4E38E4898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 dirty="0"/>
              <a:t>Using For Loop  with Range()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E9758B-E361-4084-8D9F-729FA6C4A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2180496"/>
            <a:ext cx="5404639" cy="4045683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8B1FB-E9D6-55F9-5392-2F0FB5750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5805" y="2180496"/>
            <a:ext cx="5275001" cy="4045683"/>
          </a:xfrm>
        </p:spPr>
        <p:txBody>
          <a:bodyPr>
            <a:normAutofit/>
          </a:bodyPr>
          <a:lstStyle/>
          <a:p>
            <a:r>
              <a:rPr lang="en-US" sz="2400" b="1" i="1" dirty="0"/>
              <a:t>num</a:t>
            </a:r>
            <a:r>
              <a:rPr lang="en-US" sz="2400" dirty="0"/>
              <a:t> takes on the values in the sequence generated by range(), one value at a time.</a:t>
            </a:r>
          </a:p>
          <a:p>
            <a:r>
              <a:rPr lang="en-US" sz="2400" dirty="0"/>
              <a:t>The loop prints numbers from 1 to 4 (stop -1).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52A18-5238-73D4-78F9-81747FC26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00800"/>
            <a:ext cx="1052508" cy="365125"/>
          </a:xfrm>
        </p:spPr>
        <p:txBody>
          <a:bodyPr>
            <a:norm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74D24F-674A-A972-C2F9-1B248B0C7F98}"/>
              </a:ext>
            </a:extLst>
          </p:cNvPr>
          <p:cNvSpPr txBox="1"/>
          <p:nvPr/>
        </p:nvSpPr>
        <p:spPr>
          <a:xfrm>
            <a:off x="707790" y="2246358"/>
            <a:ext cx="41363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Scenario: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Use a for loop to generate and print the  numbers from 0 to 5.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D9EE9D-6FE8-4695-8DF6-920A9D4EA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527" y="3272704"/>
            <a:ext cx="3305175" cy="1861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780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9624C-DD3D-622F-1B6C-4E38E4898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 dirty="0"/>
              <a:t>Using For Loop  with Range()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E9758B-E361-4084-8D9F-729FA6C4A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2180496"/>
            <a:ext cx="5404639" cy="4045683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8B1FB-E9D6-55F9-5392-2F0FB5750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5805" y="2180496"/>
            <a:ext cx="5275001" cy="4045683"/>
          </a:xfrm>
        </p:spPr>
        <p:txBody>
          <a:bodyPr>
            <a:normAutofit/>
          </a:bodyPr>
          <a:lstStyle/>
          <a:p>
            <a:r>
              <a:rPr lang="en-US" sz="2400" dirty="0"/>
              <a:t>Since the </a:t>
            </a:r>
            <a:r>
              <a:rPr lang="en-US" sz="2400" b="1" dirty="0">
                <a:solidFill>
                  <a:srgbClr val="00B0F0"/>
                </a:solidFill>
              </a:rPr>
              <a:t>step</a:t>
            </a:r>
            <a:r>
              <a:rPr lang="en-US" sz="2400" dirty="0">
                <a:solidFill>
                  <a:srgbClr val="00B0F0"/>
                </a:solidFill>
              </a:rPr>
              <a:t> is </a:t>
            </a:r>
            <a:r>
              <a:rPr lang="en-US" sz="2400" b="1" dirty="0">
                <a:solidFill>
                  <a:srgbClr val="00B0F0"/>
                </a:solidFill>
              </a:rPr>
              <a:t>omitted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7030A0"/>
                </a:solidFill>
              </a:rPr>
              <a:t>default value 1 is used</a:t>
            </a:r>
            <a:r>
              <a:rPr lang="en-US" sz="2400" dirty="0"/>
              <a:t>.</a:t>
            </a:r>
          </a:p>
          <a:p>
            <a:r>
              <a:rPr lang="en-US" sz="2400" dirty="0"/>
              <a:t>The loop prints numbers starting from 0 to 5 (stop -1).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52A18-5238-73D4-78F9-81747FC26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00800"/>
            <a:ext cx="105250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57F1E4F-1CFF-5643-939E-217C01CDF565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74D24F-674A-A972-C2F9-1B248B0C7F98}"/>
              </a:ext>
            </a:extLst>
          </p:cNvPr>
          <p:cNvSpPr txBox="1"/>
          <p:nvPr/>
        </p:nvSpPr>
        <p:spPr>
          <a:xfrm>
            <a:off x="707790" y="2246358"/>
            <a:ext cx="41363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Scenario:</a:t>
            </a:r>
            <a:r>
              <a:rPr lang="en-US" dirty="0"/>
              <a:t> Use a for loop to generate and print the  numbers from 0 to 5.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BA2017-5E62-E93E-65DE-FEA8C56C78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817" y="3288413"/>
            <a:ext cx="3755877" cy="1671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009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9624C-DD3D-622F-1B6C-4E38E4898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 dirty="0"/>
              <a:t>Using For Loop  with Range()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E9758B-E361-4084-8D9F-729FA6C4A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2180496"/>
            <a:ext cx="5404639" cy="4045683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8B1FB-E9D6-55F9-5392-2F0FB5750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5805" y="2180496"/>
            <a:ext cx="5275001" cy="404568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030A0"/>
                </a:solidFill>
              </a:rPr>
              <a:t>stop= 5 , start = 0, step =1</a:t>
            </a:r>
          </a:p>
          <a:p>
            <a:r>
              <a:rPr lang="en-US" sz="2400" dirty="0"/>
              <a:t>When the range() function has one argument, it is interpreted as the </a:t>
            </a:r>
            <a:r>
              <a:rPr lang="en-US" sz="2400" b="1" dirty="0">
                <a:solidFill>
                  <a:srgbClr val="00B0F0"/>
                </a:solidFill>
              </a:rPr>
              <a:t>stop</a:t>
            </a:r>
            <a:r>
              <a:rPr lang="en-US" sz="2400" dirty="0"/>
              <a:t> argument with the </a:t>
            </a:r>
            <a:r>
              <a:rPr lang="en-US" sz="2400" b="1" dirty="0">
                <a:solidFill>
                  <a:srgbClr val="00B0F0"/>
                </a:solidFill>
              </a:rPr>
              <a:t>start</a:t>
            </a:r>
            <a:r>
              <a:rPr lang="en-US" sz="2400" dirty="0">
                <a:solidFill>
                  <a:srgbClr val="00B0F0"/>
                </a:solidFill>
              </a:rPr>
              <a:t> = </a:t>
            </a:r>
            <a:r>
              <a:rPr lang="en-US" sz="2400" b="1" dirty="0">
                <a:solidFill>
                  <a:srgbClr val="00B0F0"/>
                </a:solidFill>
              </a:rPr>
              <a:t>0</a:t>
            </a:r>
            <a:r>
              <a:rPr lang="en-US" sz="2400" dirty="0"/>
              <a:t>.</a:t>
            </a:r>
          </a:p>
          <a:p>
            <a:r>
              <a:rPr lang="en-US" sz="2400" dirty="0"/>
              <a:t>The loop repeats 5 times and prints 0 to 4.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52A18-5238-73D4-78F9-81747FC26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00800"/>
            <a:ext cx="1052508" cy="365125"/>
          </a:xfrm>
        </p:spPr>
        <p:txBody>
          <a:bodyPr>
            <a:norm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74D24F-674A-A972-C2F9-1B248B0C7F98}"/>
              </a:ext>
            </a:extLst>
          </p:cNvPr>
          <p:cNvSpPr txBox="1"/>
          <p:nvPr/>
        </p:nvSpPr>
        <p:spPr>
          <a:xfrm>
            <a:off x="707790" y="2246358"/>
            <a:ext cx="41363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Scenario: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Use a for loop to generate and print the numbers from 0 to 4.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217354-F07A-5A87-0799-428F59D66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076" y="3067726"/>
            <a:ext cx="4262434" cy="1961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0254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8E96387-12F1-45E4-9322-ABBF2EE04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F421DD-DE4E-4547-A904-3F80E25E3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985DEC-1215-4209-9708-B45CC9774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EB7086-616E-4D44-94BE-D0F763561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56981F2-287B-4FF9-ADF9-BA62CF2D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23900"/>
            <a:ext cx="12192000" cy="61341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D04475-FCFA-B61C-32EF-8B93E7501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723901"/>
            <a:ext cx="10993549" cy="731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Range() function: Progress Check!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2BAF0C-DF4E-41F8-E473-88B709A8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00800"/>
            <a:ext cx="101644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D57F1E4F-1CFF-5643-939E-217C01CDF565}" type="slidenum">
              <a:rPr lang="en-US" smtClean="0">
                <a:solidFill>
                  <a:schemeClr val="accent1">
                    <a:lumMod val="75000"/>
                    <a:lumOff val="25000"/>
                  </a:schemeClr>
                </a:solidFill>
              </a:rPr>
              <a:pPr defTabSz="914400">
                <a:spcAft>
                  <a:spcPts val="600"/>
                </a:spcAft>
              </a:pPr>
              <a:t>14</a:t>
            </a:fld>
            <a:endParaRPr lang="en-US">
              <a:solidFill>
                <a:schemeClr val="accent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B47091E-CA3E-7427-415A-B51AA94316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9562613"/>
              </p:ext>
            </p:extLst>
          </p:nvPr>
        </p:nvGraphicFramePr>
        <p:xfrm>
          <a:off x="699168" y="2618330"/>
          <a:ext cx="10012085" cy="3602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0271">
                  <a:extLst>
                    <a:ext uri="{9D8B030D-6E8A-4147-A177-3AD203B41FA5}">
                      <a16:colId xmlns:a16="http://schemas.microsoft.com/office/drawing/2014/main" val="354973257"/>
                    </a:ext>
                  </a:extLst>
                </a:gridCol>
                <a:gridCol w="6161814">
                  <a:extLst>
                    <a:ext uri="{9D8B030D-6E8A-4147-A177-3AD203B41FA5}">
                      <a16:colId xmlns:a16="http://schemas.microsoft.com/office/drawing/2014/main" val="584511621"/>
                    </a:ext>
                  </a:extLst>
                </a:gridCol>
              </a:tblGrid>
              <a:tr h="600456">
                <a:tc>
                  <a:txBody>
                    <a:bodyPr/>
                    <a:lstStyle/>
                    <a:p>
                      <a:r>
                        <a:rPr lang="en-US" sz="2700"/>
                        <a:t>Code</a:t>
                      </a:r>
                    </a:p>
                  </a:txBody>
                  <a:tcPr marL="136467" marR="136467" marT="68234" marB="68234"/>
                </a:tc>
                <a:tc>
                  <a:txBody>
                    <a:bodyPr/>
                    <a:lstStyle/>
                    <a:p>
                      <a:r>
                        <a:rPr lang="en-US" sz="2700" dirty="0"/>
                        <a:t>Sequence Generated</a:t>
                      </a:r>
                    </a:p>
                  </a:txBody>
                  <a:tcPr marL="136467" marR="136467" marT="68234" marB="68234"/>
                </a:tc>
                <a:extLst>
                  <a:ext uri="{0D108BD9-81ED-4DB2-BD59-A6C34878D82A}">
                    <a16:rowId xmlns:a16="http://schemas.microsoft.com/office/drawing/2014/main" val="3376671592"/>
                  </a:ext>
                </a:extLst>
              </a:tr>
              <a:tr h="600456">
                <a:tc>
                  <a:txBody>
                    <a:bodyPr/>
                    <a:lstStyle/>
                    <a:p>
                      <a:r>
                        <a:rPr lang="en-US" sz="2700"/>
                        <a:t>range (5)</a:t>
                      </a:r>
                    </a:p>
                  </a:txBody>
                  <a:tcPr marL="136467" marR="136467" marT="68234" marB="68234"/>
                </a:tc>
                <a:tc>
                  <a:txBody>
                    <a:bodyPr/>
                    <a:lstStyle/>
                    <a:p>
                      <a:r>
                        <a:rPr lang="en-US" sz="2700" dirty="0"/>
                        <a:t>?</a:t>
                      </a:r>
                    </a:p>
                  </a:txBody>
                  <a:tcPr marL="136467" marR="136467" marT="68234" marB="68234"/>
                </a:tc>
                <a:extLst>
                  <a:ext uri="{0D108BD9-81ED-4DB2-BD59-A6C34878D82A}">
                    <a16:rowId xmlns:a16="http://schemas.microsoft.com/office/drawing/2014/main" val="2570375611"/>
                  </a:ext>
                </a:extLst>
              </a:tr>
              <a:tr h="600456">
                <a:tc>
                  <a:txBody>
                    <a:bodyPr/>
                    <a:lstStyle/>
                    <a:p>
                      <a:r>
                        <a:rPr lang="en-US" sz="2700"/>
                        <a:t>range (2,10,3)</a:t>
                      </a:r>
                    </a:p>
                  </a:txBody>
                  <a:tcPr marL="136467" marR="136467" marT="68234" marB="68234"/>
                </a:tc>
                <a:tc>
                  <a:txBody>
                    <a:bodyPr/>
                    <a:lstStyle/>
                    <a:p>
                      <a:r>
                        <a:rPr lang="en-US" sz="2700"/>
                        <a:t>?</a:t>
                      </a:r>
                    </a:p>
                  </a:txBody>
                  <a:tcPr marL="136467" marR="136467" marT="68234" marB="68234"/>
                </a:tc>
                <a:extLst>
                  <a:ext uri="{0D108BD9-81ED-4DB2-BD59-A6C34878D82A}">
                    <a16:rowId xmlns:a16="http://schemas.microsoft.com/office/drawing/2014/main" val="569713128"/>
                  </a:ext>
                </a:extLst>
              </a:tr>
              <a:tr h="600456">
                <a:tc>
                  <a:txBody>
                    <a:bodyPr/>
                    <a:lstStyle/>
                    <a:p>
                      <a:r>
                        <a:rPr lang="en-US" sz="2700"/>
                        <a:t>range(5,0,-1)</a:t>
                      </a:r>
                    </a:p>
                  </a:txBody>
                  <a:tcPr marL="136467" marR="136467" marT="68234" marB="68234"/>
                </a:tc>
                <a:tc>
                  <a:txBody>
                    <a:bodyPr/>
                    <a:lstStyle/>
                    <a:p>
                      <a:r>
                        <a:rPr lang="en-US" sz="2700" dirty="0"/>
                        <a:t>?</a:t>
                      </a:r>
                    </a:p>
                  </a:txBody>
                  <a:tcPr marL="136467" marR="136467" marT="68234" marB="68234"/>
                </a:tc>
                <a:extLst>
                  <a:ext uri="{0D108BD9-81ED-4DB2-BD59-A6C34878D82A}">
                    <a16:rowId xmlns:a16="http://schemas.microsoft.com/office/drawing/2014/main" val="3806297906"/>
                  </a:ext>
                </a:extLst>
              </a:tr>
              <a:tr h="600456">
                <a:tc>
                  <a:txBody>
                    <a:bodyPr/>
                    <a:lstStyle/>
                    <a:p>
                      <a:r>
                        <a:rPr lang="en-US" sz="2700"/>
                        <a:t>range(3,9)</a:t>
                      </a:r>
                    </a:p>
                  </a:txBody>
                  <a:tcPr marL="136467" marR="136467" marT="68234" marB="68234"/>
                </a:tc>
                <a:tc>
                  <a:txBody>
                    <a:bodyPr/>
                    <a:lstStyle/>
                    <a:p>
                      <a:r>
                        <a:rPr lang="en-US" sz="2700"/>
                        <a:t>?</a:t>
                      </a:r>
                    </a:p>
                  </a:txBody>
                  <a:tcPr marL="136467" marR="136467" marT="68234" marB="68234"/>
                </a:tc>
                <a:extLst>
                  <a:ext uri="{0D108BD9-81ED-4DB2-BD59-A6C34878D82A}">
                    <a16:rowId xmlns:a16="http://schemas.microsoft.com/office/drawing/2014/main" val="602622923"/>
                  </a:ext>
                </a:extLst>
              </a:tr>
              <a:tr h="600456">
                <a:tc>
                  <a:txBody>
                    <a:bodyPr/>
                    <a:lstStyle/>
                    <a:p>
                      <a:r>
                        <a:rPr lang="en-US" sz="2700"/>
                        <a:t>?</a:t>
                      </a:r>
                    </a:p>
                  </a:txBody>
                  <a:tcPr marL="136467" marR="136467" marT="68234" marB="68234"/>
                </a:tc>
                <a:tc>
                  <a:txBody>
                    <a:bodyPr/>
                    <a:lstStyle/>
                    <a:p>
                      <a:r>
                        <a:rPr lang="en-US" sz="2700" dirty="0"/>
                        <a:t>1,3,5,7</a:t>
                      </a:r>
                    </a:p>
                  </a:txBody>
                  <a:tcPr marL="136467" marR="136467" marT="68234" marB="68234"/>
                </a:tc>
                <a:extLst>
                  <a:ext uri="{0D108BD9-81ED-4DB2-BD59-A6C34878D82A}">
                    <a16:rowId xmlns:a16="http://schemas.microsoft.com/office/drawing/2014/main" val="21024893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EA6682B7-C82B-09F4-3C30-ABE10C2B42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6578" y="1495307"/>
            <a:ext cx="4619658" cy="85589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3EB61EE-80FA-9EC9-6849-FD044A49F8CB}"/>
              </a:ext>
            </a:extLst>
          </p:cNvPr>
          <p:cNvSpPr/>
          <p:nvPr/>
        </p:nvSpPr>
        <p:spPr>
          <a:xfrm>
            <a:off x="5778674" y="1587515"/>
            <a:ext cx="4203525" cy="6832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Start</a:t>
            </a:r>
            <a:r>
              <a:rPr lang="en-GB" sz="1800" dirty="0">
                <a:solidFill>
                  <a:schemeClr val="bg1"/>
                </a:solidFill>
              </a:rPr>
              <a:t> and </a:t>
            </a:r>
            <a:r>
              <a:rPr lang="en-GB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S</a:t>
            </a:r>
            <a:r>
              <a:rPr lang="en-GB" sz="1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tep</a:t>
            </a:r>
            <a:r>
              <a:rPr lang="en-GB" sz="1800" dirty="0">
                <a:solidFill>
                  <a:schemeClr val="bg1"/>
                </a:solidFill>
              </a:rPr>
              <a:t> are optional. </a:t>
            </a:r>
          </a:p>
          <a:p>
            <a:r>
              <a:rPr lang="en-GB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S</a:t>
            </a:r>
            <a:r>
              <a:rPr lang="en-GB" sz="1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top</a:t>
            </a:r>
            <a:r>
              <a:rPr lang="en-GB" sz="1800" dirty="0">
                <a:solidFill>
                  <a:schemeClr val="bg1"/>
                </a:solidFill>
              </a:rPr>
              <a:t> is mandatory.</a:t>
            </a:r>
          </a:p>
        </p:txBody>
      </p:sp>
    </p:spTree>
    <p:extLst>
      <p:ext uri="{BB962C8B-B14F-4D97-AF65-F5344CB8AC3E}">
        <p14:creationId xmlns:p14="http://schemas.microsoft.com/office/powerpoint/2010/main" val="3742644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8E96387-12F1-45E4-9322-ABBF2EE04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F421DD-DE4E-4547-A904-3F80E25E3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985DEC-1215-4209-9708-B45CC9774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EB7086-616E-4D44-94BE-D0F763561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56981F2-287B-4FF9-ADF9-BA62CF2D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23900"/>
            <a:ext cx="12192000" cy="61341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D04475-FCFA-B61C-32EF-8B93E7501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723901"/>
            <a:ext cx="10993549" cy="731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Range() function: Progress Check!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2BAF0C-DF4E-41F8-E473-88B709A8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00800"/>
            <a:ext cx="101644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51B94">
                    <a:lumMod val="75000"/>
                    <a:lumOff val="25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51B94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B47091E-CA3E-7427-415A-B51AA94316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3113559"/>
              </p:ext>
            </p:extLst>
          </p:nvPr>
        </p:nvGraphicFramePr>
        <p:xfrm>
          <a:off x="699168" y="2618330"/>
          <a:ext cx="10012085" cy="3602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0271">
                  <a:extLst>
                    <a:ext uri="{9D8B030D-6E8A-4147-A177-3AD203B41FA5}">
                      <a16:colId xmlns:a16="http://schemas.microsoft.com/office/drawing/2014/main" val="354973257"/>
                    </a:ext>
                  </a:extLst>
                </a:gridCol>
                <a:gridCol w="6161814">
                  <a:extLst>
                    <a:ext uri="{9D8B030D-6E8A-4147-A177-3AD203B41FA5}">
                      <a16:colId xmlns:a16="http://schemas.microsoft.com/office/drawing/2014/main" val="584511621"/>
                    </a:ext>
                  </a:extLst>
                </a:gridCol>
              </a:tblGrid>
              <a:tr h="600456">
                <a:tc>
                  <a:txBody>
                    <a:bodyPr/>
                    <a:lstStyle/>
                    <a:p>
                      <a:r>
                        <a:rPr lang="en-US" sz="2700"/>
                        <a:t>Code</a:t>
                      </a:r>
                    </a:p>
                  </a:txBody>
                  <a:tcPr marL="136467" marR="136467" marT="68234" marB="68234"/>
                </a:tc>
                <a:tc>
                  <a:txBody>
                    <a:bodyPr/>
                    <a:lstStyle/>
                    <a:p>
                      <a:r>
                        <a:rPr lang="en-US" sz="2700" dirty="0"/>
                        <a:t>Sequence Generated</a:t>
                      </a:r>
                    </a:p>
                  </a:txBody>
                  <a:tcPr marL="136467" marR="136467" marT="68234" marB="68234"/>
                </a:tc>
                <a:extLst>
                  <a:ext uri="{0D108BD9-81ED-4DB2-BD59-A6C34878D82A}">
                    <a16:rowId xmlns:a16="http://schemas.microsoft.com/office/drawing/2014/main" val="3376671592"/>
                  </a:ext>
                </a:extLst>
              </a:tr>
              <a:tr h="600456">
                <a:tc>
                  <a:txBody>
                    <a:bodyPr/>
                    <a:lstStyle/>
                    <a:p>
                      <a:r>
                        <a:rPr lang="en-US" sz="2700"/>
                        <a:t>range (5)</a:t>
                      </a:r>
                    </a:p>
                  </a:txBody>
                  <a:tcPr marL="136467" marR="136467" marT="68234" marB="68234"/>
                </a:tc>
                <a:tc>
                  <a:txBody>
                    <a:bodyPr/>
                    <a:lstStyle/>
                    <a:p>
                      <a:endParaRPr lang="en-US" sz="2700" dirty="0"/>
                    </a:p>
                  </a:txBody>
                  <a:tcPr marL="136467" marR="136467" marT="68234" marB="68234"/>
                </a:tc>
                <a:extLst>
                  <a:ext uri="{0D108BD9-81ED-4DB2-BD59-A6C34878D82A}">
                    <a16:rowId xmlns:a16="http://schemas.microsoft.com/office/drawing/2014/main" val="2570375611"/>
                  </a:ext>
                </a:extLst>
              </a:tr>
              <a:tr h="600456">
                <a:tc>
                  <a:txBody>
                    <a:bodyPr/>
                    <a:lstStyle/>
                    <a:p>
                      <a:r>
                        <a:rPr lang="en-US" sz="2700"/>
                        <a:t>range (2,10,3)</a:t>
                      </a:r>
                    </a:p>
                  </a:txBody>
                  <a:tcPr marL="136467" marR="136467" marT="68234" marB="68234"/>
                </a:tc>
                <a:tc>
                  <a:txBody>
                    <a:bodyPr/>
                    <a:lstStyle/>
                    <a:p>
                      <a:endParaRPr lang="en-US" sz="2700" dirty="0"/>
                    </a:p>
                  </a:txBody>
                  <a:tcPr marL="136467" marR="136467" marT="68234" marB="68234"/>
                </a:tc>
                <a:extLst>
                  <a:ext uri="{0D108BD9-81ED-4DB2-BD59-A6C34878D82A}">
                    <a16:rowId xmlns:a16="http://schemas.microsoft.com/office/drawing/2014/main" val="569713128"/>
                  </a:ext>
                </a:extLst>
              </a:tr>
              <a:tr h="600456">
                <a:tc>
                  <a:txBody>
                    <a:bodyPr/>
                    <a:lstStyle/>
                    <a:p>
                      <a:r>
                        <a:rPr lang="en-US" sz="2700"/>
                        <a:t>range(5,0,-1)</a:t>
                      </a:r>
                    </a:p>
                  </a:txBody>
                  <a:tcPr marL="136467" marR="136467" marT="68234" marB="68234"/>
                </a:tc>
                <a:tc>
                  <a:txBody>
                    <a:bodyPr/>
                    <a:lstStyle/>
                    <a:p>
                      <a:endParaRPr lang="en-US" sz="2700" dirty="0"/>
                    </a:p>
                  </a:txBody>
                  <a:tcPr marL="136467" marR="136467" marT="68234" marB="68234"/>
                </a:tc>
                <a:extLst>
                  <a:ext uri="{0D108BD9-81ED-4DB2-BD59-A6C34878D82A}">
                    <a16:rowId xmlns:a16="http://schemas.microsoft.com/office/drawing/2014/main" val="3806297906"/>
                  </a:ext>
                </a:extLst>
              </a:tr>
              <a:tr h="600456">
                <a:tc>
                  <a:txBody>
                    <a:bodyPr/>
                    <a:lstStyle/>
                    <a:p>
                      <a:r>
                        <a:rPr lang="en-US" sz="2700"/>
                        <a:t>range(3,9)</a:t>
                      </a:r>
                    </a:p>
                  </a:txBody>
                  <a:tcPr marL="136467" marR="136467" marT="68234" marB="68234"/>
                </a:tc>
                <a:tc>
                  <a:txBody>
                    <a:bodyPr/>
                    <a:lstStyle/>
                    <a:p>
                      <a:endParaRPr lang="en-US" sz="2700" dirty="0"/>
                    </a:p>
                  </a:txBody>
                  <a:tcPr marL="136467" marR="136467" marT="68234" marB="68234"/>
                </a:tc>
                <a:extLst>
                  <a:ext uri="{0D108BD9-81ED-4DB2-BD59-A6C34878D82A}">
                    <a16:rowId xmlns:a16="http://schemas.microsoft.com/office/drawing/2014/main" val="602622923"/>
                  </a:ext>
                </a:extLst>
              </a:tr>
              <a:tr h="600456">
                <a:tc>
                  <a:txBody>
                    <a:bodyPr/>
                    <a:lstStyle/>
                    <a:p>
                      <a:endParaRPr lang="en-US" sz="2700" dirty="0"/>
                    </a:p>
                  </a:txBody>
                  <a:tcPr marL="136467" marR="136467" marT="68234" marB="6823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1  3  5  7 </a:t>
                      </a:r>
                    </a:p>
                  </a:txBody>
                  <a:tcPr marL="136467" marR="136467" marT="68234" marB="68234"/>
                </a:tc>
                <a:extLst>
                  <a:ext uri="{0D108BD9-81ED-4DB2-BD59-A6C34878D82A}">
                    <a16:rowId xmlns:a16="http://schemas.microsoft.com/office/drawing/2014/main" val="21024893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EA6682B7-C82B-09F4-3C30-ABE10C2B42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9168" y="1495306"/>
            <a:ext cx="4619658" cy="855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33D8BA-0FDB-EC0A-DD20-2FD6AAA8D17D}"/>
              </a:ext>
            </a:extLst>
          </p:cNvPr>
          <p:cNvSpPr txBox="1"/>
          <p:nvPr/>
        </p:nvSpPr>
        <p:spPr>
          <a:xfrm>
            <a:off x="4600705" y="3329046"/>
            <a:ext cx="1215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0 1 2 3 4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F230D6-C402-AB8A-6CD5-5CE260F40DE6}"/>
              </a:ext>
            </a:extLst>
          </p:cNvPr>
          <p:cNvSpPr txBox="1"/>
          <p:nvPr/>
        </p:nvSpPr>
        <p:spPr>
          <a:xfrm>
            <a:off x="4600704" y="3941659"/>
            <a:ext cx="1215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2  5  8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057AED-321A-5465-2017-C07951D3A28D}"/>
              </a:ext>
            </a:extLst>
          </p:cNvPr>
          <p:cNvSpPr txBox="1"/>
          <p:nvPr/>
        </p:nvSpPr>
        <p:spPr>
          <a:xfrm>
            <a:off x="4600704" y="4554272"/>
            <a:ext cx="1634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5   4   3   2  1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2599B4-A8E6-77C5-7CA8-CCB3C9E69121}"/>
              </a:ext>
            </a:extLst>
          </p:cNvPr>
          <p:cNvSpPr txBox="1"/>
          <p:nvPr/>
        </p:nvSpPr>
        <p:spPr>
          <a:xfrm>
            <a:off x="4600704" y="5143656"/>
            <a:ext cx="1634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3  4 5 6 7 8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2AD46A-4C13-7993-788A-450B5E2A53F5}"/>
              </a:ext>
            </a:extLst>
          </p:cNvPr>
          <p:cNvSpPr txBox="1"/>
          <p:nvPr/>
        </p:nvSpPr>
        <p:spPr>
          <a:xfrm>
            <a:off x="700931" y="5672434"/>
            <a:ext cx="2308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range (1,8,2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48386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1" grpId="0"/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8E96387-12F1-45E4-9322-ABBF2EE04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9F421DD-DE4E-4547-A904-3F80E25E3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9985DEC-1215-4209-9708-B45CC9774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0EB7086-616E-4D44-94BE-D0F763561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A56981F2-287B-4FF9-ADF9-BA62CF2D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23900"/>
            <a:ext cx="12192000" cy="61341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BEA3C3-2F85-6439-1AC7-3F19498D8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723901"/>
            <a:ext cx="10993549" cy="78921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For Loops with Range(): Progress check!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772359-71E8-53F3-7C86-769A4AD16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00800"/>
            <a:ext cx="101644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51B94">
                    <a:lumMod val="75000"/>
                    <a:lumOff val="25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51B94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2326FD9-9C99-2386-EC83-B6820E36E4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9556910"/>
              </p:ext>
            </p:extLst>
          </p:nvPr>
        </p:nvGraphicFramePr>
        <p:xfrm>
          <a:off x="700251" y="1684817"/>
          <a:ext cx="7485806" cy="4715984"/>
        </p:xfrm>
        <a:graphic>
          <a:graphicData uri="http://schemas.openxmlformats.org/drawingml/2006/table">
            <a:tbl>
              <a:tblPr firstRow="1" bandCol="1">
                <a:tableStyleId>{B301B821-A1FF-4177-AEE7-76D212191A09}</a:tableStyleId>
              </a:tblPr>
              <a:tblGrid>
                <a:gridCol w="4596778">
                  <a:extLst>
                    <a:ext uri="{9D8B030D-6E8A-4147-A177-3AD203B41FA5}">
                      <a16:colId xmlns:a16="http://schemas.microsoft.com/office/drawing/2014/main" val="3115062573"/>
                    </a:ext>
                  </a:extLst>
                </a:gridCol>
                <a:gridCol w="2889028">
                  <a:extLst>
                    <a:ext uri="{9D8B030D-6E8A-4147-A177-3AD203B41FA5}">
                      <a16:colId xmlns:a16="http://schemas.microsoft.com/office/drawing/2014/main" val="3082485736"/>
                    </a:ext>
                  </a:extLst>
                </a:gridCol>
              </a:tblGrid>
              <a:tr h="462221">
                <a:tc>
                  <a:txBody>
                    <a:bodyPr/>
                    <a:lstStyle/>
                    <a:p>
                      <a:r>
                        <a:rPr lang="en-US" dirty="0"/>
                        <a:t>Sample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 of repetitions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9641976"/>
                  </a:ext>
                </a:extLst>
              </a:tr>
              <a:tr h="1583673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0597420"/>
                  </a:ext>
                </a:extLst>
              </a:tr>
              <a:tr h="145641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946383"/>
                  </a:ext>
                </a:extLst>
              </a:tr>
              <a:tr h="121367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490952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6DF941E0-A918-3A1C-63C8-B8E931109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083" y="2357144"/>
            <a:ext cx="2553026" cy="10978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2AF8C3B-F38B-20B1-6123-D790489A3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83" y="3812071"/>
            <a:ext cx="2553024" cy="85588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2CE0CB0-5855-2105-10E1-741C4FC906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083" y="5224311"/>
            <a:ext cx="2553024" cy="10447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39DFD5-ACAF-52DF-5B6A-6B071B5C4FFC}"/>
              </a:ext>
            </a:extLst>
          </p:cNvPr>
          <p:cNvSpPr txBox="1"/>
          <p:nvPr/>
        </p:nvSpPr>
        <p:spPr>
          <a:xfrm>
            <a:off x="5536504" y="2567836"/>
            <a:ext cx="1152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1071E2-A015-FE7C-A4A3-8C3FA174564D}"/>
              </a:ext>
            </a:extLst>
          </p:cNvPr>
          <p:cNvSpPr txBox="1"/>
          <p:nvPr/>
        </p:nvSpPr>
        <p:spPr>
          <a:xfrm>
            <a:off x="5536504" y="4141390"/>
            <a:ext cx="1152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64E8CF-9D85-69F5-B842-42CC323FA54A}"/>
              </a:ext>
            </a:extLst>
          </p:cNvPr>
          <p:cNvSpPr txBox="1"/>
          <p:nvPr/>
        </p:nvSpPr>
        <p:spPr>
          <a:xfrm>
            <a:off x="5583303" y="5393231"/>
            <a:ext cx="1152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40667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98AB4-FF84-02D5-97FC-8992A582D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  <a:latin typeface="Gill Sans MT"/>
              </a:rPr>
              <a:t>for</a:t>
            </a:r>
            <a:r>
              <a:rPr lang="en-US" dirty="0">
                <a:solidFill>
                  <a:srgbClr val="FFFFFF"/>
                </a:solidFill>
                <a:latin typeface="Gill Sans MT"/>
                <a:cs typeface="Calibri"/>
              </a:rPr>
              <a:t> Loop (</a:t>
            </a:r>
            <a:r>
              <a:rPr lang="en-US" dirty="0" err="1">
                <a:solidFill>
                  <a:srgbClr val="FFFFFF"/>
                </a:solidFill>
                <a:latin typeface="Gill Sans MT"/>
                <a:cs typeface="Calibri"/>
              </a:rPr>
              <a:t>EduBlocks</a:t>
            </a:r>
            <a:r>
              <a:rPr lang="en-US" dirty="0">
                <a:solidFill>
                  <a:srgbClr val="FFFFFF"/>
                </a:solidFill>
                <a:latin typeface="Gill Sans MT"/>
                <a:cs typeface="Calibri"/>
              </a:rPr>
              <a:t>)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41F35B-2BA2-5E61-9C5D-34DD002C23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General Syntax</a:t>
            </a:r>
          </a:p>
        </p:txBody>
      </p:sp>
      <p:pic>
        <p:nvPicPr>
          <p:cNvPr id="8" name="Content Placeholder 7" descr="A screenshot of a computer&#10;&#10;Description automatically generated">
            <a:extLst>
              <a:ext uri="{FF2B5EF4-FFF2-40B4-BE49-F238E27FC236}">
                <a16:creationId xmlns:a16="http://schemas.microsoft.com/office/drawing/2014/main" id="{7967FEB7-9C5B-9286-8AA1-B52E5CE0A91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338415" y="2926052"/>
            <a:ext cx="3878657" cy="2934999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45332B0-0426-E572-17B6-007715A2C2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9" name="Content Placeholder 8" descr="A yellow and purple file folders with white text&#10;&#10;Description automatically generated">
            <a:extLst>
              <a:ext uri="{FF2B5EF4-FFF2-40B4-BE49-F238E27FC236}">
                <a16:creationId xmlns:a16="http://schemas.microsoft.com/office/drawing/2014/main" id="{252AF061-4329-7754-09F6-46E95259CB4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7423413" y="2926052"/>
            <a:ext cx="2981692" cy="293499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0FE06D-A923-4C29-2132-B0F4DF1EA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BF70F5-AA8B-3E99-4722-2C8067E99222}"/>
              </a:ext>
            </a:extLst>
          </p:cNvPr>
          <p:cNvSpPr txBox="1"/>
          <p:nvPr/>
        </p:nvSpPr>
        <p:spPr>
          <a:xfrm>
            <a:off x="1343025" y="5950743"/>
            <a:ext cx="492204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Consolas"/>
              </a:rPr>
              <a:t>loop</a:t>
            </a:r>
            <a:r>
              <a:rPr lang="en-US" sz="2000" dirty="0">
                <a:latin typeface="Calibri"/>
              </a:rPr>
              <a:t> statements are found under the category</a:t>
            </a:r>
            <a:endParaRPr lang="en-US" sz="2000" dirty="0">
              <a:latin typeface="Calibri"/>
              <a:cs typeface="Calibri"/>
            </a:endParaRPr>
          </a:p>
        </p:txBody>
      </p:sp>
      <p:pic>
        <p:nvPicPr>
          <p:cNvPr id="11" name="Picture 10" descr="A purple circle with a white background&#10;&#10;Description automatically generated">
            <a:extLst>
              <a:ext uri="{FF2B5EF4-FFF2-40B4-BE49-F238E27FC236}">
                <a16:creationId xmlns:a16="http://schemas.microsoft.com/office/drawing/2014/main" id="{760A8DDF-EE0F-AF7D-8B77-D729438746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1743" y="6343648"/>
            <a:ext cx="1052513" cy="314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3610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B95F0C-DC12-482B-A733-7C37CD074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721015" cy="2255903"/>
          </a:xfrm>
        </p:spPr>
        <p:txBody>
          <a:bodyPr/>
          <a:lstStyle/>
          <a:p>
            <a:pPr marL="305435" indent="-305435"/>
            <a:r>
              <a:rPr lang="en-US" dirty="0"/>
              <a:t>Print the sequence  </a:t>
            </a:r>
            <a:r>
              <a:rPr lang="en-US" sz="2000" dirty="0">
                <a:latin typeface="Consolas"/>
              </a:rPr>
              <a:t>0 , 1 , 2 , 3 , 4 , 5</a:t>
            </a:r>
            <a:endParaRPr lang="en-US" sz="2000">
              <a:latin typeface="Consolas"/>
            </a:endParaRPr>
          </a:p>
          <a:p>
            <a:pPr marL="0" indent="0">
              <a:buNone/>
            </a:pPr>
            <a:endParaRPr lang="en-US" dirty="0"/>
          </a:p>
          <a:p>
            <a:pPr marL="109220" indent="0">
              <a:buNone/>
            </a:pPr>
            <a:endParaRPr lang="en-US" sz="1400" dirty="0"/>
          </a:p>
          <a:p>
            <a:pPr marL="305435" indent="-305435"/>
            <a:r>
              <a:rPr lang="en-US" dirty="0"/>
              <a:t>The </a:t>
            </a:r>
            <a:r>
              <a:rPr lang="en-US" b="1" dirty="0"/>
              <a:t>action</a:t>
            </a:r>
            <a:r>
              <a:rPr lang="en-US" dirty="0"/>
              <a:t> being repeated in this loop is just to </a:t>
            </a:r>
            <a:r>
              <a:rPr lang="en-US" b="1" dirty="0"/>
              <a:t>print</a:t>
            </a:r>
            <a:r>
              <a:rPr lang="en-US" dirty="0"/>
              <a:t> the value of </a:t>
            </a:r>
            <a:r>
              <a:rPr lang="en-US" err="1">
                <a:solidFill>
                  <a:srgbClr val="0070C0"/>
                </a:solidFill>
                <a:latin typeface="Consolas"/>
              </a:rPr>
              <a:t>i</a:t>
            </a:r>
            <a:r>
              <a:rPr lang="en-US" dirty="0">
                <a:latin typeface="+mj-lt"/>
              </a:rPr>
              <a:t>,</a:t>
            </a:r>
            <a:r>
              <a:rPr lang="en-US" dirty="0"/>
              <a:t> the loop variable  </a:t>
            </a:r>
            <a:endParaRPr lang="en-SG" i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9E6360-BA71-4685-B5D8-95DB429D8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14338"/>
            <a:ext cx="8229600" cy="1143000"/>
          </a:xfrm>
        </p:spPr>
        <p:txBody>
          <a:bodyPr/>
          <a:lstStyle/>
          <a:p>
            <a:r>
              <a:rPr lang="en-US" dirty="0">
                <a:latin typeface="Consolas"/>
              </a:rPr>
              <a:t>FOR</a:t>
            </a:r>
            <a:r>
              <a:rPr lang="en-US" dirty="0"/>
              <a:t> LOOP – EXAMPLE (</a:t>
            </a:r>
            <a:r>
              <a:rPr lang="en-US" dirty="0" err="1"/>
              <a:t>EDUBLocks</a:t>
            </a:r>
            <a:r>
              <a:rPr lang="en-US" dirty="0"/>
              <a:t>)</a:t>
            </a: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E87D16-DCA2-47D2-B2A4-F5FB0119C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112" y="4422244"/>
            <a:ext cx="2278214" cy="16663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C1E6A2-B8F3-4DCD-A3FD-7A8423793D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624" y="2829372"/>
            <a:ext cx="2777002" cy="5995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ABF010-534B-467C-92F8-690381C919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8702" y="2146881"/>
            <a:ext cx="4208614" cy="4109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8157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3007F-233E-9006-3B03-8C31C4DB0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for loops in problem-solving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86D23-AF2B-FE7A-3568-ED7925D9E5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074" y="1880040"/>
            <a:ext cx="11201734" cy="5900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Write a Python program that uses a for loop to calculate and print the </a:t>
            </a:r>
            <a:r>
              <a:rPr lang="en-US" b="1" dirty="0"/>
              <a:t>sum of the numbers 1 to 5</a:t>
            </a:r>
            <a:r>
              <a:rPr lang="en-US" dirty="0"/>
              <a:t>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AEB2FB-7DF1-0CB0-C2C6-5E1931E73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39292F67-BD96-2143-C1F6-712AA577E2B7}"/>
              </a:ext>
            </a:extLst>
          </p:cNvPr>
          <p:cNvSpPr/>
          <p:nvPr/>
        </p:nvSpPr>
        <p:spPr>
          <a:xfrm>
            <a:off x="6096000" y="3005973"/>
            <a:ext cx="4380910" cy="1573357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The </a:t>
            </a:r>
            <a:r>
              <a:rPr lang="en-SG" i="1" dirty="0"/>
              <a:t>loop </a:t>
            </a:r>
            <a:r>
              <a:rPr lang="en-SG" dirty="0"/>
              <a:t>variable </a:t>
            </a:r>
            <a:r>
              <a:rPr lang="en-SG" dirty="0" err="1"/>
              <a:t>i</a:t>
            </a:r>
            <a:r>
              <a:rPr lang="en-SG" dirty="0"/>
              <a:t> is being summed in each repetition to solve the problem</a:t>
            </a:r>
            <a:endParaRPr lang="en-US" dirty="0"/>
          </a:p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C67C8E-DB6B-577C-66CD-0B2DFC8AF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92" y="2585497"/>
            <a:ext cx="4780723" cy="2414310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10204647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B28A3-D8CA-5EB6-A68A-48961C29A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Progress check!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0A80969-337B-A7C6-F55B-8B794879CD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80042" y="2718066"/>
            <a:ext cx="5210620" cy="238647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E6A701-61F0-1B1E-7358-C05723BFC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EFAB5AF-3C43-7F65-C9CF-FF0922F57F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97545"/>
              </p:ext>
            </p:extLst>
          </p:nvPr>
        </p:nvGraphicFramePr>
        <p:xfrm>
          <a:off x="6096000" y="2718066"/>
          <a:ext cx="5177590" cy="23864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8795">
                  <a:extLst>
                    <a:ext uri="{9D8B030D-6E8A-4147-A177-3AD203B41FA5}">
                      <a16:colId xmlns:a16="http://schemas.microsoft.com/office/drawing/2014/main" val="4202862818"/>
                    </a:ext>
                  </a:extLst>
                </a:gridCol>
                <a:gridCol w="2588795">
                  <a:extLst>
                    <a:ext uri="{9D8B030D-6E8A-4147-A177-3AD203B41FA5}">
                      <a16:colId xmlns:a16="http://schemas.microsoft.com/office/drawing/2014/main" val="1612444664"/>
                    </a:ext>
                  </a:extLst>
                </a:gridCol>
              </a:tblGrid>
              <a:tr h="397745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184606"/>
                  </a:ext>
                </a:extLst>
              </a:tr>
              <a:tr h="39774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2828477"/>
                  </a:ext>
                </a:extLst>
              </a:tr>
              <a:tr h="397745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439836"/>
                  </a:ext>
                </a:extLst>
              </a:tr>
              <a:tr h="397745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230903"/>
                  </a:ext>
                </a:extLst>
              </a:tr>
              <a:tr h="397745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1911596"/>
                  </a:ext>
                </a:extLst>
              </a:tr>
              <a:tr h="397745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3916324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E335BBB3-3E08-C7F2-7310-0DB94F56078E}"/>
              </a:ext>
            </a:extLst>
          </p:cNvPr>
          <p:cNvSpPr txBox="1"/>
          <p:nvPr/>
        </p:nvSpPr>
        <p:spPr>
          <a:xfrm>
            <a:off x="1549400" y="2033915"/>
            <a:ext cx="94995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What are the values of </a:t>
            </a:r>
            <a:r>
              <a:rPr lang="en-US" sz="2400" b="1" i="1" dirty="0" err="1">
                <a:solidFill>
                  <a:srgbClr val="7030A0"/>
                </a:solidFill>
              </a:rPr>
              <a:t>i</a:t>
            </a:r>
            <a:r>
              <a:rPr lang="en-US" sz="2400" b="1" i="1" dirty="0">
                <a:solidFill>
                  <a:srgbClr val="7030A0"/>
                </a:solidFill>
              </a:rPr>
              <a:t> </a:t>
            </a:r>
            <a:r>
              <a:rPr lang="en-US" sz="2400" b="1" dirty="0">
                <a:solidFill>
                  <a:srgbClr val="7030A0"/>
                </a:solidFill>
              </a:rPr>
              <a:t>and </a:t>
            </a:r>
            <a:r>
              <a:rPr lang="en-US" sz="2400" b="1" i="1" dirty="0">
                <a:solidFill>
                  <a:srgbClr val="7030A0"/>
                </a:solidFill>
              </a:rPr>
              <a:t>sum</a:t>
            </a:r>
            <a:r>
              <a:rPr lang="en-US" sz="2400" b="1" dirty="0">
                <a:solidFill>
                  <a:srgbClr val="7030A0"/>
                </a:solidFill>
              </a:rPr>
              <a:t> as the program executes</a:t>
            </a:r>
            <a:r>
              <a:rPr lang="en-US" b="1" dirty="0">
                <a:solidFill>
                  <a:srgbClr val="7030A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8856147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E8CF2-FB08-8C97-5CF7-A6C25FB68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Progress Check: </a:t>
            </a:r>
            <a:r>
              <a:rPr lang="en-US" dirty="0" err="1"/>
              <a:t>SOlution</a:t>
            </a:r>
            <a:r>
              <a:rPr lang="en-US" dirty="0"/>
              <a:t> in </a:t>
            </a:r>
            <a:r>
              <a:rPr lang="en-US" dirty="0" err="1"/>
              <a:t>Edublock</a:t>
            </a:r>
            <a:r>
              <a:rPr lang="en-US" dirty="0"/>
              <a:t> </a:t>
            </a:r>
          </a:p>
        </p:txBody>
      </p:sp>
      <p:pic>
        <p:nvPicPr>
          <p:cNvPr id="5" name="Content Placeholder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5C19DAC3-4318-C493-D41E-3F2583AD62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08432" y="2180496"/>
            <a:ext cx="5175259" cy="457127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FA3352-0DB7-F741-8B53-946B94EBB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5690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B28A3-D8CA-5EB6-A68A-48961C29A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Progress Check!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0A80969-337B-A7C6-F55B-8B794879CD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80042" y="2718066"/>
            <a:ext cx="5210620" cy="238647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E6A701-61F0-1B1E-7358-C05723BFC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EFAB5AF-3C43-7F65-C9CF-FF0922F57F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4071906"/>
              </p:ext>
            </p:extLst>
          </p:nvPr>
        </p:nvGraphicFramePr>
        <p:xfrm>
          <a:off x="6096000" y="2718066"/>
          <a:ext cx="5177590" cy="23864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8795">
                  <a:extLst>
                    <a:ext uri="{9D8B030D-6E8A-4147-A177-3AD203B41FA5}">
                      <a16:colId xmlns:a16="http://schemas.microsoft.com/office/drawing/2014/main" val="4202862818"/>
                    </a:ext>
                  </a:extLst>
                </a:gridCol>
                <a:gridCol w="2588795">
                  <a:extLst>
                    <a:ext uri="{9D8B030D-6E8A-4147-A177-3AD203B41FA5}">
                      <a16:colId xmlns:a16="http://schemas.microsoft.com/office/drawing/2014/main" val="1612444664"/>
                    </a:ext>
                  </a:extLst>
                </a:gridCol>
              </a:tblGrid>
              <a:tr h="397745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184606"/>
                  </a:ext>
                </a:extLst>
              </a:tr>
              <a:tr h="39774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i=1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sum=1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2828477"/>
                  </a:ext>
                </a:extLst>
              </a:tr>
              <a:tr h="397745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i</a:t>
                      </a:r>
                      <a:r>
                        <a:rPr lang="en-US" dirty="0"/>
                        <a:t>=2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sum=3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439836"/>
                  </a:ext>
                </a:extLst>
              </a:tr>
              <a:tr h="397745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i</a:t>
                      </a:r>
                      <a:r>
                        <a:rPr lang="en-US" dirty="0"/>
                        <a:t>=3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sum=6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230903"/>
                  </a:ext>
                </a:extLst>
              </a:tr>
              <a:tr h="397745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i</a:t>
                      </a:r>
                      <a:r>
                        <a:rPr lang="en-US" dirty="0"/>
                        <a:t>=4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sum=10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1911596"/>
                  </a:ext>
                </a:extLst>
              </a:tr>
              <a:tr h="397745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i</a:t>
                      </a:r>
                      <a:r>
                        <a:rPr lang="en-US" dirty="0"/>
                        <a:t>=5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sum=15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391632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2412FCB-480B-138D-389F-213C806F5FAC}"/>
              </a:ext>
            </a:extLst>
          </p:cNvPr>
          <p:cNvSpPr txBox="1"/>
          <p:nvPr/>
        </p:nvSpPr>
        <p:spPr>
          <a:xfrm>
            <a:off x="1549400" y="2033915"/>
            <a:ext cx="94995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What are the values of </a:t>
            </a:r>
            <a:r>
              <a:rPr lang="en-US" sz="2400" b="1" i="1" dirty="0" err="1">
                <a:solidFill>
                  <a:srgbClr val="7030A0"/>
                </a:solidFill>
              </a:rPr>
              <a:t>i</a:t>
            </a:r>
            <a:r>
              <a:rPr lang="en-US" sz="2400" b="1" i="1" dirty="0">
                <a:solidFill>
                  <a:srgbClr val="7030A0"/>
                </a:solidFill>
              </a:rPr>
              <a:t> </a:t>
            </a:r>
            <a:r>
              <a:rPr lang="en-US" sz="2400" b="1" dirty="0">
                <a:solidFill>
                  <a:srgbClr val="7030A0"/>
                </a:solidFill>
              </a:rPr>
              <a:t>and </a:t>
            </a:r>
            <a:r>
              <a:rPr lang="en-US" sz="2400" b="1" i="1" dirty="0">
                <a:solidFill>
                  <a:srgbClr val="7030A0"/>
                </a:solidFill>
              </a:rPr>
              <a:t>sum</a:t>
            </a:r>
            <a:r>
              <a:rPr lang="en-US" sz="2400" b="1" dirty="0">
                <a:solidFill>
                  <a:srgbClr val="7030A0"/>
                </a:solidFill>
              </a:rPr>
              <a:t> as the program executes</a:t>
            </a:r>
            <a:r>
              <a:rPr lang="en-US" b="1" dirty="0">
                <a:solidFill>
                  <a:srgbClr val="7030A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172438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48E96387-12F1-45E4-9322-ABBF2EE04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9F421DD-DE4E-4547-A904-3F80E25E3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9985DEC-1215-4209-9708-B45CC9774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0EB7086-616E-4D44-94BE-D0F763561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A56981F2-287B-4FF9-ADF9-BA62CF2D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23900"/>
            <a:ext cx="12192000" cy="61341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BD43D6-3661-F7B3-85CD-A6BDFB3AF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723901"/>
            <a:ext cx="10993549" cy="60607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Using for loops in problem-solving – Progress check!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B0B4E4-F7C0-B416-54B6-F3BB3C464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00800"/>
            <a:ext cx="101644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51B94">
                    <a:lumMod val="75000"/>
                    <a:lumOff val="25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51B94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1C10A7-B54D-348F-CEFF-482B2A965B45}"/>
              </a:ext>
            </a:extLst>
          </p:cNvPr>
          <p:cNvSpPr txBox="1"/>
          <p:nvPr/>
        </p:nvSpPr>
        <p:spPr>
          <a:xfrm>
            <a:off x="581191" y="1353201"/>
            <a:ext cx="463085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>
                <a:solidFill>
                  <a:srgbClr val="7030A0"/>
                </a:solidFill>
              </a:rPr>
              <a:t>Update the  following code to calculate and display also the average of the numbers from 1 to 5!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E7DF02-7890-646F-6638-9A26541F4938}"/>
              </a:ext>
            </a:extLst>
          </p:cNvPr>
          <p:cNvSpPr txBox="1"/>
          <p:nvPr/>
        </p:nvSpPr>
        <p:spPr>
          <a:xfrm>
            <a:off x="6077965" y="15180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Solution: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656C7D-CC8E-D142-6D11-6A078C612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654" y="2426861"/>
            <a:ext cx="6190046" cy="28199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FEB645-C600-6FE8-32B8-A03FCB4412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091" y="2448234"/>
            <a:ext cx="4201294" cy="2190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182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CFED9-E4F0-43A3-66D7-6697D80F7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for loops in problem-solving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196D0-7E15-7E57-6400-8D9A409F2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5674" y="2253513"/>
            <a:ext cx="4343733" cy="3678303"/>
          </a:xfrm>
        </p:spPr>
        <p:txBody>
          <a:bodyPr/>
          <a:lstStyle/>
          <a:p>
            <a:r>
              <a:rPr lang="en-US" dirty="0"/>
              <a:t>Write a Python program that calculates the total price of three items in a shopping cart. </a:t>
            </a:r>
          </a:p>
          <a:p>
            <a:r>
              <a:rPr lang="en-US" dirty="0"/>
              <a:t>The program should prompt the user to input the price of each item, sum these prices, and then print the total price.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5290D5-1BAB-4B4C-18E3-EE42EB59C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7" name="Picture 6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9CDA4F26-D137-CA8A-104D-D6602F2C2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2366188"/>
            <a:ext cx="6685882" cy="3565628"/>
          </a:xfrm>
          <a:prstGeom prst="rect">
            <a:avLst/>
          </a:prstGeom>
          <a:ln w="28575">
            <a:solidFill>
              <a:srgbClr val="012590"/>
            </a:solidFill>
          </a:ln>
        </p:spPr>
      </p:pic>
    </p:spTree>
    <p:extLst>
      <p:ext uri="{BB962C8B-B14F-4D97-AF65-F5344CB8AC3E}">
        <p14:creationId xmlns:p14="http://schemas.microsoft.com/office/powerpoint/2010/main" val="3229858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8DBFB-5E95-21FC-932D-333AB9C26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 dirty="0"/>
              <a:t>Using Break in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A9A7D-F99A-568A-C7C3-3DF9E0B529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5805" y="2180496"/>
            <a:ext cx="5275001" cy="3402157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0070C0"/>
                </a:solidFill>
              </a:rPr>
              <a:t>break</a:t>
            </a:r>
            <a:r>
              <a:rPr lang="en-US" dirty="0"/>
              <a:t> statement is used to </a:t>
            </a:r>
            <a:r>
              <a:rPr lang="en-US" b="1" dirty="0"/>
              <a:t>exit</a:t>
            </a:r>
            <a:r>
              <a:rPr lang="en-US" dirty="0"/>
              <a:t> a loop prematurely (before it is supposed to end).</a:t>
            </a:r>
          </a:p>
          <a:p>
            <a:r>
              <a:rPr lang="en-US" dirty="0"/>
              <a:t>It immediately stops the iterations and exits the loop. </a:t>
            </a:r>
          </a:p>
          <a:p>
            <a:pPr marL="0" indent="0" algn="ctr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What would print if we remove the break statement from the code?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8DA5F-5B8D-5423-D993-350E7946B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00800"/>
            <a:ext cx="105250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57F1E4F-1CFF-5643-939E-217C01CDF565}" type="slidenum">
              <a:rPr lang="en-US" smtClean="0"/>
              <a:pPr>
                <a:spcAft>
                  <a:spcPts val="600"/>
                </a:spcAft>
              </a:pPr>
              <a:t>25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D5CFAE-2C00-4A9F-4C04-E32CB4733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796" y="2993583"/>
            <a:ext cx="5098400" cy="2129589"/>
          </a:xfrm>
          <a:prstGeom prst="rect">
            <a:avLst/>
          </a:prstGeom>
          <a:ln w="19050"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12280316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5314D-E9F6-FB18-C11A-0C3011A26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 dirty="0"/>
              <a:t>Collaborative Task: Extend your knowledge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B5DF8-C26D-5D5D-2314-00D02AB6D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5325" y="2180496"/>
            <a:ext cx="7105481" cy="4045683"/>
          </a:xfrm>
        </p:spPr>
        <p:txBody>
          <a:bodyPr>
            <a:normAutofit/>
          </a:bodyPr>
          <a:lstStyle/>
          <a:p>
            <a:r>
              <a:rPr lang="en-US" b="1" dirty="0"/>
              <a:t>Work with your peer to develop the following Python code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Print the even numbers from 4 to 20, skipping the number 8.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26BF41-DD8A-220F-8A31-FB0FEB024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00800"/>
            <a:ext cx="1052508" cy="365125"/>
          </a:xfrm>
        </p:spPr>
        <p:txBody>
          <a:bodyPr>
            <a:norm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5" name="Graphic 4" descr="User Network">
            <a:extLst>
              <a:ext uri="{FF2B5EF4-FFF2-40B4-BE49-F238E27FC236}">
                <a16:creationId xmlns:a16="http://schemas.microsoft.com/office/drawing/2014/main" id="{1D53D3FA-B380-07B7-6BAF-D29CA957D9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7225" y="2533078"/>
            <a:ext cx="3305175" cy="330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0567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21433-4F84-FFB4-6F43-667028ED0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18FDC-DC34-7609-2D5F-C46BE658D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 dirty="0"/>
              <a:t>Peer review activity</a:t>
            </a:r>
          </a:p>
        </p:txBody>
      </p:sp>
      <p:pic>
        <p:nvPicPr>
          <p:cNvPr id="8" name="Graphic 7" descr="Onboarding">
            <a:extLst>
              <a:ext uri="{FF2B5EF4-FFF2-40B4-BE49-F238E27FC236}">
                <a16:creationId xmlns:a16="http://schemas.microsoft.com/office/drawing/2014/main" id="{54B813C4-8823-E1E5-417B-D601A82836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7225" y="2533078"/>
            <a:ext cx="3305175" cy="33051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92112-5689-3E2F-F063-0ADF5E6D3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5325" y="2180496"/>
            <a:ext cx="7105481" cy="4045683"/>
          </a:xfrm>
        </p:spPr>
        <p:txBody>
          <a:bodyPr>
            <a:normAutofit/>
          </a:bodyPr>
          <a:lstStyle/>
          <a:p>
            <a:r>
              <a:rPr lang="en-US" dirty="0"/>
              <a:t>Exchange your capitals dictionary program with another pair of students</a:t>
            </a:r>
          </a:p>
          <a:p>
            <a:r>
              <a:rPr lang="en-US" dirty="0"/>
              <a:t>Evaluate your peer’s code based on the following criteria:</a:t>
            </a:r>
          </a:p>
          <a:p>
            <a:pPr lvl="1"/>
            <a:r>
              <a:rPr lang="en-US" dirty="0"/>
              <a:t>Does the code correctly print even numbers from 4 to 20, excluding 8?</a:t>
            </a:r>
          </a:p>
          <a:p>
            <a:pPr lvl="1"/>
            <a:r>
              <a:rPr lang="en-US" dirty="0"/>
              <a:t>Is the logic implemented efficiently, avoiding unnecessary iterations?</a:t>
            </a:r>
          </a:p>
          <a:p>
            <a:pPr lvl="1"/>
            <a:r>
              <a:rPr lang="en-US" dirty="0"/>
              <a:t>Are variable names meaningful and the code easy to read?</a:t>
            </a:r>
          </a:p>
          <a:p>
            <a:pPr lvl="1"/>
            <a:r>
              <a:rPr lang="en-US" dirty="0"/>
              <a:t>Is the solution clear and free of errors?</a:t>
            </a:r>
          </a:p>
          <a:p>
            <a:r>
              <a:rPr lang="en-US" dirty="0"/>
              <a:t>Share strengths of the code and suggest improvements where needed.</a:t>
            </a:r>
          </a:p>
          <a:p>
            <a:r>
              <a:rPr lang="en-US" b="1" dirty="0"/>
              <a:t>Reflection Questions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What new insights did you gain from reviewing someone else's code?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25036F-F867-34A1-02BC-E1E9BF5B9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00800"/>
            <a:ext cx="1052508" cy="365125"/>
          </a:xfrm>
        </p:spPr>
        <p:txBody>
          <a:bodyPr>
            <a:norm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6690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48E96387-12F1-45E4-9322-ABBF2EE04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9F421DD-DE4E-4547-A904-3F80E25E3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9985DEC-1215-4209-9708-B45CC9774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EB7086-616E-4D44-94BE-D0F763561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A56981F2-287B-4FF9-ADF9-BA62CF2D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23900"/>
            <a:ext cx="12192000" cy="61341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ED788C-FA78-C41A-B2AE-340900A3A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723901"/>
            <a:ext cx="10993549" cy="14287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chemeClr val="accent1"/>
                </a:solidFill>
              </a:rPr>
              <a:t>Sample Code Solution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023C3-5105-AF2A-4143-3ED7CFCFC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00800"/>
            <a:ext cx="101644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51B94">
                    <a:lumMod val="75000"/>
                    <a:lumOff val="25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51B94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C05CDD-439E-E89D-3F33-C3240E18F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90" y="2576585"/>
            <a:ext cx="7458525" cy="302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8279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C951A-167A-D7F1-EB8B-1B9266B2A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212B9-8362-7082-24D0-98B1F8AB4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 dirty="0"/>
              <a:t>Self-Assessment Checklist</a:t>
            </a:r>
          </a:p>
        </p:txBody>
      </p:sp>
      <p:pic>
        <p:nvPicPr>
          <p:cNvPr id="8" name="Graphic 7" descr="Check List">
            <a:extLst>
              <a:ext uri="{FF2B5EF4-FFF2-40B4-BE49-F238E27FC236}">
                <a16:creationId xmlns:a16="http://schemas.microsoft.com/office/drawing/2014/main" id="{5A0DB728-F07F-C131-011C-749B72190B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7225" y="2533078"/>
            <a:ext cx="3305175" cy="33051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2A0E3-995D-E9FF-34CB-E8B33027C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5325" y="2180496"/>
            <a:ext cx="7105481" cy="4045683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b="1" dirty="0"/>
              <a:t>Review your mastery of repetition statements using the following checklist:</a:t>
            </a:r>
            <a:endParaRPr lang="en-US" dirty="0"/>
          </a:p>
          <a:p>
            <a:pPr marL="324000" lvl="1" indent="0">
              <a:buNone/>
            </a:pPr>
            <a:r>
              <a:rPr lang="en-US" dirty="0"/>
              <a:t>✅ Can you explain the purpose of iteration and how loops automate repetitive tasks?</a:t>
            </a:r>
            <a:br>
              <a:rPr lang="en-US" dirty="0"/>
            </a:br>
            <a:r>
              <a:rPr lang="en-US" dirty="0"/>
              <a:t>✅ Can you differentiate between for loops and while loops and choose the appropriate one for a given task?</a:t>
            </a:r>
            <a:br>
              <a:rPr lang="en-US" dirty="0"/>
            </a:br>
            <a:r>
              <a:rPr lang="en-US" dirty="0"/>
              <a:t>✅ Can you use for loops to iterate over sequences effectively?</a:t>
            </a:r>
            <a:br>
              <a:rPr lang="en-US" dirty="0"/>
            </a:br>
            <a:r>
              <a:rPr lang="en-US" dirty="0"/>
              <a:t>✅ Can you utilize the range() function with start, stop, and step parameters to control iteration?</a:t>
            </a:r>
            <a:br>
              <a:rPr lang="en-US" dirty="0"/>
            </a:br>
            <a:r>
              <a:rPr lang="en-US" dirty="0"/>
              <a:t>✅ Can you implement the break statement to exit loops prematurely when necessary?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162EC7-1B13-2A6E-910D-F6A090C01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00800"/>
            <a:ext cx="1052508" cy="365125"/>
          </a:xfrm>
        </p:spPr>
        <p:txBody>
          <a:bodyPr>
            <a:norm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4205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28">
            <a:extLst>
              <a:ext uri="{FF2B5EF4-FFF2-40B4-BE49-F238E27FC236}">
                <a16:creationId xmlns:a16="http://schemas.microsoft.com/office/drawing/2014/main" id="{E2B7D02C-F642-492B-8E97-FDE1C0FDA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1507414"/>
            <a:ext cx="5120255" cy="3903332"/>
          </a:xfrm>
        </p:spPr>
        <p:txBody>
          <a:bodyPr anchor="t">
            <a:normAutofit/>
          </a:bodyPr>
          <a:lstStyle/>
          <a:p>
            <a:r>
              <a:rPr lang="en-US" sz="4000" dirty="0">
                <a:solidFill>
                  <a:srgbClr val="00218A"/>
                </a:solidFill>
              </a:rPr>
              <a:t>Summary</a:t>
            </a:r>
            <a:br>
              <a:rPr lang="en-US" sz="4000" dirty="0">
                <a:solidFill>
                  <a:srgbClr val="00218A"/>
                </a:solidFill>
              </a:rPr>
            </a:br>
            <a:endParaRPr lang="en-US" sz="4000" dirty="0">
              <a:solidFill>
                <a:srgbClr val="00218A"/>
              </a:solidFill>
            </a:endParaRPr>
          </a:p>
        </p:txBody>
      </p:sp>
      <p:sp>
        <p:nvSpPr>
          <p:cNvPr id="35" name="Rectangle 30">
            <a:extLst>
              <a:ext uri="{FF2B5EF4-FFF2-40B4-BE49-F238E27FC236}">
                <a16:creationId xmlns:a16="http://schemas.microsoft.com/office/drawing/2014/main" id="{A2D0BA34-24BC-4C63-945A-90AA854E1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3642"/>
            <a:ext cx="11298933" cy="512708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2B4B35E-6E66-8C00-0731-86BE9FDF3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507415"/>
            <a:ext cx="7877007" cy="4202009"/>
          </a:xfrm>
          <a:ln w="57150">
            <a:noFill/>
          </a:ln>
        </p:spPr>
        <p:txBody>
          <a:bodyPr anchor="t">
            <a:normAutofit/>
          </a:bodyPr>
          <a:lstStyle/>
          <a:p>
            <a:pPr lvl="0"/>
            <a:r>
              <a:rPr lang="en-US" sz="2000" dirty="0"/>
              <a:t>An iteration, also known as a </a:t>
            </a:r>
            <a:r>
              <a:rPr lang="en-US" sz="2000" b="1" i="1" dirty="0"/>
              <a:t>loop</a:t>
            </a:r>
            <a:r>
              <a:rPr lang="en-US" sz="2000" dirty="0"/>
              <a:t>, allows you to write a sequence of operations once and run it multiple times.</a:t>
            </a:r>
          </a:p>
          <a:p>
            <a:pPr marR="0">
              <a:lnSpc>
                <a:spcPct val="107000"/>
              </a:lnSpc>
            </a:pPr>
            <a:r>
              <a:rPr lang="en-US" sz="2000" dirty="0"/>
              <a:t>Different types of loops (</a:t>
            </a:r>
            <a:r>
              <a:rPr lang="en-US" sz="2000" b="1" i="1" dirty="0"/>
              <a:t>for</a:t>
            </a:r>
            <a:r>
              <a:rPr lang="en-US" sz="2000" dirty="0"/>
              <a:t> and </a:t>
            </a:r>
            <a:r>
              <a:rPr lang="en-US" sz="2000" b="1" i="1" dirty="0"/>
              <a:t>while</a:t>
            </a:r>
            <a:r>
              <a:rPr lang="en-US" sz="2000" dirty="0"/>
              <a:t>) suit different programming needs.</a:t>
            </a:r>
          </a:p>
          <a:p>
            <a:pPr marR="0">
              <a:lnSpc>
                <a:spcPct val="107000"/>
              </a:lnSpc>
            </a:pPr>
            <a:r>
              <a:rPr lang="en-US" sz="2000" i="1" dirty="0"/>
              <a:t>for</a:t>
            </a:r>
            <a:r>
              <a:rPr lang="en-US" sz="2000" dirty="0"/>
              <a:t> loops iterate over sequences, automating repetitive tasks.</a:t>
            </a:r>
          </a:p>
          <a:p>
            <a:pPr marR="0">
              <a:lnSpc>
                <a:spcPct val="107000"/>
              </a:lnSpc>
            </a:pPr>
            <a:r>
              <a:rPr lang="en-US" sz="2000" dirty="0"/>
              <a:t>The </a:t>
            </a:r>
            <a:r>
              <a:rPr lang="en-US" sz="2000" i="1" dirty="0"/>
              <a:t>range() </a:t>
            </a:r>
            <a:r>
              <a:rPr lang="en-US" sz="2000" dirty="0"/>
              <a:t>function generates numbers, with optional start, stop, and step parameters.</a:t>
            </a:r>
          </a:p>
          <a:p>
            <a:pPr marR="0">
              <a:lnSpc>
                <a:spcPct val="107000"/>
              </a:lnSpc>
            </a:pPr>
            <a:r>
              <a:rPr lang="en-US" sz="2000" dirty="0"/>
              <a:t>The break statement is used to exit a loop prematurely.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647415D-11C2-4BA0-A3EE-E0DA219B3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878019"/>
            <a:ext cx="11298933" cy="512708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DAA8B-BB85-BB48-AF63-88B8BF3EA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>
            <a:norm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06166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2B7D02C-F642-492B-8E97-FDE1C0FDA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C23450-F084-4406-1BC9-9B4A13AB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507414"/>
            <a:ext cx="5120255" cy="3903332"/>
          </a:xfrm>
        </p:spPr>
        <p:txBody>
          <a:bodyPr anchor="t">
            <a:normAutofit/>
          </a:bodyPr>
          <a:lstStyle/>
          <a:p>
            <a:r>
              <a:rPr lang="en-AE" sz="4000" dirty="0">
                <a:solidFill>
                  <a:srgbClr val="00218A"/>
                </a:solidFill>
              </a:rPr>
              <a:t>KEY TERMS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D0BA34-24BC-4C63-945A-90AA854E1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3642"/>
            <a:ext cx="11298933" cy="512708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B8AABDB-4051-A156-130E-B0DB15EE4B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2713371"/>
              </p:ext>
            </p:extLst>
          </p:nvPr>
        </p:nvGraphicFramePr>
        <p:xfrm>
          <a:off x="3893127" y="1219200"/>
          <a:ext cx="7717848" cy="46402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0647415D-11C2-4BA0-A3EE-E0DA219B3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878019"/>
            <a:ext cx="11298933" cy="512708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A253D0-F9B2-B313-24F3-393142DB3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57F1E4F-1CFF-5643-939E-217C01CDF565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31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43541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F7660A3D-94D7-4E5D-AE77-F2DEE49DF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44EB985-DC5C-4DAC-9D62-8DC7D0F25A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FCB64ED-B050-4F57-8188-F23326008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BF5D0F4-EA4E-47A5-87BE-9ABB1AF66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28C565D-A991-4381-AC37-76A58A4A1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135A46B-228F-503E-E7BA-7E7AC06F6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960" y="1507414"/>
            <a:ext cx="7295507" cy="37033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dirty="0"/>
              <a:t>Learning activities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164E244-A210-99E3-D7E9-007BD1915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342" y="1507414"/>
            <a:ext cx="3523018" cy="3703320"/>
          </a:xfrm>
          <a:ln w="57150"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2000" dirty="0"/>
              <a:t>Refer to Kahoot Quiz and Lab 6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7180431-F4DE-415D-BCBB-9316423C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3642"/>
            <a:ext cx="11298933" cy="512708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EABD997-5EF9-4E9B-AFBB-F6DFAAF3A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V="1">
            <a:off x="2209064" y="3329711"/>
            <a:ext cx="3703320" cy="58726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9AB5EE6-A047-4B18-B998-D46DF3CC3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878019"/>
            <a:ext cx="11298933" cy="512708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B754DC-269A-0D65-CD64-0072C54F1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3974"/>
            <a:ext cx="101644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57F1E4F-1CFF-5643-939E-217C01CDF565}" type="slidenum">
              <a:rPr lang="en-US">
                <a:solidFill>
                  <a:srgbClr val="FFFFFF">
                    <a:alpha val="60000"/>
                  </a:srgbClr>
                </a:solidFill>
              </a:rPr>
              <a:pPr>
                <a:spcAft>
                  <a:spcPts val="600"/>
                </a:spcAft>
              </a:pPr>
              <a:t>32</a:t>
            </a:fld>
            <a:endParaRPr lang="en-US">
              <a:solidFill>
                <a:srgbClr val="FFFFFF">
                  <a:alpha val="6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0131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67513-A97F-EF25-60E7-7AEB6A8BF0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486768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ividend">
  <a:themeElements>
    <a:clrScheme name="Custom 3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051B94"/>
      </a:accent1>
      <a:accent2>
        <a:srgbClr val="4590B8"/>
      </a:accent2>
      <a:accent3>
        <a:srgbClr val="041077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F21685B7F24D64A82AD6DED144CB196" ma:contentTypeVersion="4" ma:contentTypeDescription="Create a new document." ma:contentTypeScope="" ma:versionID="2a006546351d06b8c216f4cff1840759">
  <xsd:schema xmlns:xsd="http://www.w3.org/2001/XMLSchema" xmlns:xs="http://www.w3.org/2001/XMLSchema" xmlns:p="http://schemas.microsoft.com/office/2006/metadata/properties" xmlns:ns2="c8d76693-ead8-48f2-ba72-689c878b23f8" targetNamespace="http://schemas.microsoft.com/office/2006/metadata/properties" ma:root="true" ma:fieldsID="b0ac9c069f008989a8f2b69f4b39c2cb" ns2:_="">
    <xsd:import namespace="c8d76693-ead8-48f2-ba72-689c878b23f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d76693-ead8-48f2-ba72-689c878b23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0A124C5-50A2-4200-A3AA-1E4093C6FF1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B09F86B-9C2E-46E1-B83B-00540F9E214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d76693-ead8-48f2-ba72-689c878b23f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5A4EE26-55BF-4C1C-A4F2-8A02262A4B1E}">
  <ds:schemaRefs>
    <ds:schemaRef ds:uri="c8d76693-ead8-48f2-ba72-689c878b23f8"/>
    <ds:schemaRef ds:uri="http://purl.org/dc/dcmitype/"/>
    <ds:schemaRef ds:uri="http://purl.org/dc/terms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{47A6752F-5DD0-E24D-8854-34C55886033D}tf10001123</Template>
  <TotalTime>4765</TotalTime>
  <Words>1713</Words>
  <Application>Microsoft Office PowerPoint</Application>
  <PresentationFormat>Widescreen</PresentationFormat>
  <Paragraphs>257</Paragraphs>
  <Slides>33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Calibri</vt:lpstr>
      <vt:lpstr>Consolas</vt:lpstr>
      <vt:lpstr>Gill Sans MT</vt:lpstr>
      <vt:lpstr>Tahoma</vt:lpstr>
      <vt:lpstr>Wingdings 2</vt:lpstr>
      <vt:lpstr>Dividend</vt:lpstr>
      <vt:lpstr>CHAPTER 4: Iteration Control structures</vt:lpstr>
      <vt:lpstr>Document Revision CONTROL (DRC)</vt:lpstr>
      <vt:lpstr>Lecture Notes</vt:lpstr>
      <vt:lpstr>LECTURE OUTLINE</vt:lpstr>
      <vt:lpstr>Overview of iteration Control structures (Loops)</vt:lpstr>
      <vt:lpstr>Why do we need Loops?</vt:lpstr>
      <vt:lpstr>Why do we need Loops?</vt:lpstr>
      <vt:lpstr>Types of Iterations (Loops) in Python</vt:lpstr>
      <vt:lpstr>Overview and Syntax of 'for' Loops</vt:lpstr>
      <vt:lpstr>Using for loops with range() function</vt:lpstr>
      <vt:lpstr>Using For Loop  with Range()</vt:lpstr>
      <vt:lpstr>Using For Loop  with Range()</vt:lpstr>
      <vt:lpstr>Using For Loop  with Range()</vt:lpstr>
      <vt:lpstr>Range() function: Progress Check!</vt:lpstr>
      <vt:lpstr>Range() function: Progress Check!</vt:lpstr>
      <vt:lpstr>For Loops with Range(): Progress check!</vt:lpstr>
      <vt:lpstr>for Loop (EduBlocks)</vt:lpstr>
      <vt:lpstr>FOR LOOP – EXAMPLE (EDUBLocks)</vt:lpstr>
      <vt:lpstr>Using for loops in problem-solving</vt:lpstr>
      <vt:lpstr>Progress check!</vt:lpstr>
      <vt:lpstr>Progress Check: SOlution in Edublock </vt:lpstr>
      <vt:lpstr>Progress Check!</vt:lpstr>
      <vt:lpstr>Using for loops in problem-solving – Progress check!</vt:lpstr>
      <vt:lpstr>Using for loops in problem-solving</vt:lpstr>
      <vt:lpstr>Using Break in loops</vt:lpstr>
      <vt:lpstr>Collaborative Task: Extend your knowledge</vt:lpstr>
      <vt:lpstr>Peer review activity</vt:lpstr>
      <vt:lpstr>Sample Code Solution</vt:lpstr>
      <vt:lpstr>Self-Assessment Checklist</vt:lpstr>
      <vt:lpstr>Summary </vt:lpstr>
      <vt:lpstr>KEY TERMS</vt:lpstr>
      <vt:lpstr>Learning activities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Nourchene Benayed</dc:creator>
  <cp:lastModifiedBy>Mohamed Zafar Venkitta Cheruvamba Hafis(H00649145)</cp:lastModifiedBy>
  <cp:revision>1061</cp:revision>
  <dcterms:created xsi:type="dcterms:W3CDTF">2020-06-16T16:58:10Z</dcterms:created>
  <dcterms:modified xsi:type="dcterms:W3CDTF">2025-10-28T07:40:15Z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0x0101001F21685B7F24D64A82AD6DED144CB196</vt:lpwstr>
  </property>
</Properties>
</file>